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Part 1 measures contact. Part 2 tests one purpose at a time.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Webbkoll records one load. ICO tests one purpose at a time. Contact and lawful basis are different questions.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Webbkoll counts contact on one load. Cookies and requests are separate measures.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fotball.no has 113 requests and zero third-party cookies. document.no has the widest country list (6).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fotball.no 113. lanekassen.no 1. The pie is request share, not cookies.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Each Table 5 row is one purpose from Table 1a.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Partial means the notice aims at consent, but ICO marks consent INCONCLUSIVE and no basis APPROPRIATE.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Partial is not a court finding. It means the consent wording did not pass the ICO checklist.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Two purposes in the notice, two ICO runs. Figure 7 in the report is the hub that splits those pages.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Same split as elsewhere: one purpose, one basis.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fotball.no also has the highest Webbkoll request count. That does not decide Article 6.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Contract and legitimate interests do not fit this advertising purpose.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Same pattern as Netflix: contract for the core service.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Part 1 is contact. Part 2 is one purpose and one basis at a time.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image" Target="../media/image5.png"/><Relationship Id="rId4" Type="http://schemas.openxmlformats.org/officeDocument/2006/relationships/image" Target="../media/image6.png"/><Relationship Id="rId5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2242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5349240"/>
            <a:ext cx="12191695" cy="1508760"/>
          </a:xfrm>
          <a:prstGeom prst="rect">
            <a:avLst/>
          </a:prstGeom>
          <a:solidFill>
            <a:srgbClr val="FF9A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777240"/>
            <a:ext cx="10972800" cy="32004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1800" b="1" i="0">
                <a:solidFill>
                  <a:srgbClr val="44A1A4"/>
                </a:solidFill>
                <a:latin typeface="Calibri"/>
              </a:rPr>
              <a:t>ACIT4280 Privacy by Design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115568"/>
            <a:ext cx="10972800" cy="34747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2400" b="1" i="0">
                <a:solidFill>
                  <a:srgbClr val="44A1A4"/>
                </a:solidFill>
                <a:latin typeface="Calibri"/>
              </a:rPr>
              <a:t>Group Assignment 1A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1554480"/>
            <a:ext cx="10972800" cy="169164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2800" b="1" i="0">
                <a:solidFill>
                  <a:srgbClr val="FFFFFF"/>
                </a:solidFill>
                <a:latin typeface="Calibri"/>
              </a:rPr>
              <a:t>Analysis of 3rd-party Data Sharing
and Data Tracking and of GDPR
Compliance of Norwegian Web Sites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3310128"/>
            <a:ext cx="10972800" cy="141732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1400"/>
              </a:spcAft>
            </a:pPr>
            <a:r>
              <a:rPr sz="1700" b="0" i="0">
                <a:solidFill>
                  <a:srgbClr val="FFFFFF"/>
                </a:solidFill>
                <a:latin typeface="Calibri"/>
              </a:rPr>
              <a:t>•  When a front page loads, how many third parties does it contact, and in which countries do those servers appear to be located?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700" b="0" i="0">
                <a:solidFill>
                  <a:srgbClr val="FFFFFF"/>
                </a:solidFill>
                <a:latin typeface="Calibri"/>
              </a:rPr>
              <a:t>•  When a site processes personal data, has it named a GDPR Article 6 lawful basis, and does the ICO tool agree?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4617720"/>
            <a:ext cx="10972800" cy="50292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1600" b="0" i="0">
                <a:solidFill>
                  <a:srgbClr val="FFFFFF"/>
                </a:solidFill>
                <a:latin typeface="Calibri"/>
              </a:rPr>
              <a:t>Humna Akhtar  ·  Mithun Chandra Debnath  ·  Karina Sætersdal Nilssen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5852160"/>
            <a:ext cx="5486400" cy="50292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/>
            <a:r>
              <a:rPr sz="1600" b="0" i="0">
                <a:solidFill>
                  <a:srgbClr val="224248"/>
                </a:solidFill>
                <a:latin typeface="Calibri"/>
              </a:rPr>
              <a:t>3 September 2026</a:t>
            </a:r>
          </a:p>
        </p:txBody>
      </p:sp>
      <p:pic>
        <p:nvPicPr>
          <p:cNvPr id="10" name="Picture 9" descr="oslomet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854135" y="5852160"/>
            <a:ext cx="2834640" cy="502920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E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2242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51560"/>
            <a:ext cx="12191695" cy="73152"/>
          </a:xfrm>
          <a:prstGeom prst="rect">
            <a:avLst/>
          </a:prstGeom>
          <a:solidFill>
            <a:srgbClr val="FF9A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109728"/>
            <a:ext cx="11247120" cy="292608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1200" b="1" i="0">
                <a:solidFill>
                  <a:srgbClr val="44A1A4"/>
                </a:solidFill>
                <a:latin typeface="Calibri"/>
              </a:rPr>
              <a:t>The report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384048"/>
            <a:ext cx="11247120" cy="566928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2800" b="1" i="0">
                <a:solidFill>
                  <a:srgbClr val="FFFFFF"/>
                </a:solidFill>
                <a:latin typeface="Calibri"/>
              </a:rPr>
              <a:t>Two questions and how we measured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1417320"/>
            <a:ext cx="5394960" cy="4572000"/>
          </a:xfrm>
          <a:prstGeom prst="rect">
            <a:avLst/>
          </a:prstGeom>
          <a:solidFill>
            <a:srgbClr val="44A1A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85800" y="1572768"/>
            <a:ext cx="4937760" cy="32004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2000" b="1" i="0">
                <a:solidFill>
                  <a:srgbClr val="224248"/>
                </a:solidFill>
                <a:latin typeface="Calibri"/>
              </a:rPr>
              <a:t>Part 1  ·  Webbkoll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85800" y="1901952"/>
            <a:ext cx="4937760" cy="96012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400" b="0" i="0">
                <a:solidFill>
                  <a:srgbClr val="1A1A1A"/>
                </a:solidFill>
                <a:latin typeface="Calibri"/>
              </a:rPr>
              <a:t>•  18 sites: cookies, requests, KeyCDN country</a:t>
            </a:r>
          </a:p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400" b="0" i="0">
                <a:solidFill>
                  <a:srgbClr val="1A1A1A"/>
                </a:solidFill>
                <a:latin typeface="Calibri"/>
              </a:rPr>
              <a:t>•  One clean load per site; rank on Table 2 (20 Aug)</a:t>
            </a:r>
          </a:p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400" b="0" i="0">
                <a:solidFill>
                  <a:srgbClr val="1A1A1A"/>
                </a:solidFill>
                <a:latin typeface="Calibri"/>
              </a:rPr>
              <a:t>•  KeyCDN = IP geolocation guess, not legal transfer proof</a:t>
            </a:r>
          </a:p>
        </p:txBody>
      </p:sp>
      <p:pic>
        <p:nvPicPr>
          <p:cNvPr id="10" name="Picture 9" descr="fig2_webbkoll_results_klassekampe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5800" y="2788920"/>
            <a:ext cx="4937760" cy="1280160"/>
          </a:xfrm>
          <a:prstGeom prst="rect">
            <a:avLst/>
          </a:prstGeom>
        </p:spPr>
      </p:pic>
      <p:sp>
        <p:nvSpPr>
          <p:cNvPr id="11" name="Rectangle 10"/>
          <p:cNvSpPr/>
          <p:nvPr/>
        </p:nvSpPr>
        <p:spPr>
          <a:xfrm>
            <a:off x="6309360" y="1417320"/>
            <a:ext cx="5394960" cy="4572000"/>
          </a:xfrm>
          <a:prstGeom prst="rect">
            <a:avLst/>
          </a:prstGeom>
          <a:solidFill>
            <a:srgbClr val="325E6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537960" y="1572768"/>
            <a:ext cx="4937760" cy="32004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2000" b="1" i="0">
                <a:solidFill>
                  <a:srgbClr val="FF9A00"/>
                </a:solidFill>
                <a:latin typeface="Calibri"/>
              </a:rPr>
              <a:t>Part 2  ·  ICO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537960" y="1965960"/>
            <a:ext cx="4937760" cy="347472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1600" b="0" i="0">
                <a:solidFill>
                  <a:srgbClr val="FFFFFF"/>
                </a:solidFill>
                <a:latin typeface="Calibri"/>
              </a:rPr>
              <a:t>•  Five sites, one purpose per run</a:t>
            </a:r>
          </a:p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1600" b="0" i="0">
                <a:solidFill>
                  <a:srgbClr val="FFFFFF"/>
                </a:solidFill>
                <a:latin typeface="Calibri"/>
              </a:rPr>
              <a:t>•  Notice vs ICO Word report (26 Aug 2026)</a:t>
            </a:r>
          </a:p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1600" b="0" i="0">
                <a:solidFill>
                  <a:srgbClr val="FFFFFF"/>
                </a:solidFill>
                <a:latin typeface="Calibri"/>
              </a:rPr>
              <a:t>•  Yes if notice and ICO agree</a:t>
            </a:r>
          </a:p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1600" b="0" i="0">
                <a:solidFill>
                  <a:srgbClr val="FFFFFF"/>
                </a:solidFill>
                <a:latin typeface="Calibri"/>
              </a:rPr>
              <a:t>•  Partial if consent is INCONCLUSIVE</a:t>
            </a:r>
          </a:p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1600" b="0" i="0">
                <a:solidFill>
                  <a:srgbClr val="FFFFFF"/>
                </a:solidFill>
                <a:latin typeface="Calibri"/>
              </a:rPr>
              <a:t>•  Tax, cookies, checkout and marketing are different purposes</a:t>
            </a:r>
          </a:p>
        </p:txBody>
      </p:sp>
      <p:sp>
        <p:nvSpPr>
          <p:cNvPr id="14" name="Rectangle 13"/>
          <p:cNvSpPr/>
          <p:nvPr/>
        </p:nvSpPr>
        <p:spPr>
          <a:xfrm>
            <a:off x="0" y="6656832"/>
            <a:ext cx="12191695" cy="201168"/>
          </a:xfrm>
          <a:prstGeom prst="rect">
            <a:avLst/>
          </a:prstGeom>
          <a:solidFill>
            <a:srgbClr val="2242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365760" y="6656832"/>
            <a:ext cx="9144000" cy="201168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1100" b="0" i="0">
                <a:solidFill>
                  <a:srgbClr val="FFFFFF"/>
                </a:solidFill>
                <a:latin typeface="Calibri"/>
              </a:rPr>
              <a:t>ACIT4280 Group Assignment 1A  |  3 Sep 2026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424160" y="6656832"/>
            <a:ext cx="1371600" cy="201168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r"/>
            <a:r>
              <a:rPr sz="1100" b="0" i="0">
                <a:solidFill>
                  <a:srgbClr val="FFFFFF"/>
                </a:solidFill>
                <a:latin typeface="Calibri"/>
              </a:rPr>
              <a:t>2 / 15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E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2242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51560"/>
            <a:ext cx="12191695" cy="73152"/>
          </a:xfrm>
          <a:prstGeom prst="rect">
            <a:avLst/>
          </a:prstGeom>
          <a:solidFill>
            <a:srgbClr val="FF9A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109728"/>
            <a:ext cx="11247120" cy="292608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1200" b="1" i="0">
                <a:solidFill>
                  <a:srgbClr val="44A1A4"/>
                </a:solidFill>
                <a:latin typeface="Calibri"/>
              </a:rPr>
              <a:t>Part 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384048"/>
            <a:ext cx="11247120" cy="566928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2800" b="1" i="0">
                <a:solidFill>
                  <a:srgbClr val="FFFFFF"/>
                </a:solidFill>
                <a:latin typeface="Calibri"/>
              </a:rPr>
              <a:t>What Webbkoll shows and key findings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1417320"/>
            <a:ext cx="5394960" cy="4572000"/>
          </a:xfrm>
          <a:prstGeom prst="rect">
            <a:avLst/>
          </a:prstGeom>
          <a:solidFill>
            <a:srgbClr val="44A1A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85800" y="1600200"/>
            <a:ext cx="4937760" cy="36576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2200" b="1" i="0">
                <a:solidFill>
                  <a:srgbClr val="224248"/>
                </a:solidFill>
                <a:latin typeface="Calibri"/>
              </a:rPr>
              <a:t>What Webbkoll shows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85800" y="2011680"/>
            <a:ext cx="4937760" cy="68580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600" b="0" i="0">
                <a:solidFill>
                  <a:srgbClr val="1A1A1A"/>
                </a:solidFill>
                <a:latin typeface="Calibri"/>
              </a:rPr>
              <a:t>Cookies, third-party requests and server country.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600" b="1" i="0">
                <a:solidFill>
                  <a:srgbClr val="FF9A00"/>
                </a:solidFill>
                <a:latin typeface="Calibri"/>
              </a:rPr>
              <a:t>Many requests does not mean many cookies.</a:t>
            </a:r>
          </a:p>
        </p:txBody>
      </p:sp>
      <p:pic>
        <p:nvPicPr>
          <p:cNvPr id="10" name="Picture 9" descr="fig4_keycdn_lookup_klassekampe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5800" y="2788920"/>
            <a:ext cx="4937760" cy="2148840"/>
          </a:xfrm>
          <a:prstGeom prst="rect">
            <a:avLst/>
          </a:prstGeom>
        </p:spPr>
      </p:pic>
      <p:sp>
        <p:nvSpPr>
          <p:cNvPr id="11" name="Rectangle 10"/>
          <p:cNvSpPr/>
          <p:nvPr/>
        </p:nvSpPr>
        <p:spPr>
          <a:xfrm>
            <a:off x="6309360" y="1417320"/>
            <a:ext cx="5394960" cy="4572000"/>
          </a:xfrm>
          <a:prstGeom prst="rect">
            <a:avLst/>
          </a:prstGeom>
          <a:solidFill>
            <a:srgbClr val="2242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537960" y="1600200"/>
            <a:ext cx="4937760" cy="36576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2200" b="1" i="0">
                <a:solidFill>
                  <a:srgbClr val="44A1A4"/>
                </a:solidFill>
                <a:latin typeface="Calibri"/>
              </a:rPr>
              <a:t>Key findings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537960" y="2103120"/>
            <a:ext cx="4937760" cy="365760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1600" b="0" i="0">
                <a:solidFill>
                  <a:srgbClr val="FFFFFF"/>
                </a:solidFill>
                <a:latin typeface="Calibri"/>
              </a:rPr>
              <a:t>•  fotball.no: 113 requests, zero third-party cookies.</a:t>
            </a:r>
          </a:p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1600" b="0" i="0">
                <a:solidFill>
                  <a:srgbClr val="FFFFFF"/>
                </a:solidFill>
                <a:latin typeface="Calibri"/>
              </a:rPr>
              <a:t>•  17 of 18 sites: zero third-party cookies. ikea.no had 2.</a:t>
            </a:r>
          </a:p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1600" b="0" i="0">
                <a:solidFill>
                  <a:srgbClr val="FFFFFF"/>
                </a:solidFill>
                <a:latin typeface="Calibri"/>
              </a:rPr>
              <a:t>•  lanekassen.no (1) and altinn.no (5): quietest e-government pages.</a:t>
            </a:r>
          </a:p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1600" b="0" i="0">
                <a:solidFill>
                  <a:srgbClr val="FFFFFF"/>
                </a:solidFill>
                <a:latin typeface="Calibri"/>
              </a:rPr>
              <a:t>•  document.no: widest country list (6 excluding Norway).</a:t>
            </a:r>
          </a:p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1600" b="0" i="0">
                <a:solidFill>
                  <a:srgbClr val="FFFFFF"/>
                </a:solidFill>
                <a:latin typeface="Calibri"/>
              </a:rPr>
              <a:t>•  News/media contacted the most. Government the fewest.</a:t>
            </a:r>
          </a:p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1600" b="0" i="0">
                <a:solidFill>
                  <a:srgbClr val="FFFFFF"/>
                </a:solidFill>
                <a:latin typeface="Calibri"/>
              </a:rPr>
              <a:t>•  babyshop.no: 101 on Table 3; ranking stays on Table 2 (45).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0" y="6656832"/>
            <a:ext cx="12191695" cy="201168"/>
          </a:xfrm>
          <a:prstGeom prst="rect">
            <a:avLst/>
          </a:prstGeom>
          <a:solidFill>
            <a:srgbClr val="2242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365760" y="6656832"/>
            <a:ext cx="9144000" cy="201168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1100" b="0" i="0">
                <a:solidFill>
                  <a:srgbClr val="FFFFFF"/>
                </a:solidFill>
                <a:latin typeface="Calibri"/>
              </a:rPr>
              <a:t>ACIT4280 Group Assignment 1A  |  3 Sep 2026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424160" y="6656832"/>
            <a:ext cx="1371600" cy="201168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r"/>
            <a:r>
              <a:rPr sz="1100" b="0" i="0">
                <a:solidFill>
                  <a:srgbClr val="FFFFFF"/>
                </a:solidFill>
                <a:latin typeface="Calibri"/>
              </a:rPr>
              <a:t>3 / 15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E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2242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51560"/>
            <a:ext cx="12191695" cy="73152"/>
          </a:xfrm>
          <a:prstGeom prst="rect">
            <a:avLst/>
          </a:prstGeom>
          <a:solidFill>
            <a:srgbClr val="FF9A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109728"/>
            <a:ext cx="11247120" cy="292608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1200" b="1" i="0">
                <a:solidFill>
                  <a:srgbClr val="44A1A4"/>
                </a:solidFill>
                <a:latin typeface="Calibri"/>
              </a:rPr>
              <a:t>Part 1  ·  Table 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384048"/>
            <a:ext cx="11247120" cy="566928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2800" b="1" i="0">
                <a:solidFill>
                  <a:srgbClr val="FFFFFF"/>
                </a:solidFill>
                <a:latin typeface="Calibri"/>
              </a:rPr>
              <a:t>Highest and lowest third-party requests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1280160"/>
            <a:ext cx="5486400" cy="36576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1800" b="1" i="0">
                <a:solidFill>
                  <a:srgbClr val="224248"/>
                </a:solidFill>
                <a:latin typeface="Calibri"/>
              </a:rPr>
              <a:t>Highest five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0" y="1280160"/>
            <a:ext cx="5486400" cy="36576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1800" b="1" i="0">
                <a:solidFill>
                  <a:srgbClr val="325E6A"/>
                </a:solidFill>
                <a:latin typeface="Calibri"/>
              </a:rPr>
              <a:t>Lowest five</a:t>
            </a:r>
          </a:p>
        </p:txBody>
      </p:sp>
      <p:sp>
        <p:nvSpPr>
          <p:cNvPr id="9" name="Rectangle 8"/>
          <p:cNvSpPr/>
          <p:nvPr/>
        </p:nvSpPr>
        <p:spPr>
          <a:xfrm>
            <a:off x="457200" y="1627632"/>
            <a:ext cx="5394960" cy="749808"/>
          </a:xfrm>
          <a:prstGeom prst="rect">
            <a:avLst/>
          </a:prstGeom>
          <a:solidFill>
            <a:srgbClr val="44A1A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0080" y="1682496"/>
            <a:ext cx="5029200" cy="292608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1600" b="1" i="0">
                <a:solidFill>
                  <a:srgbClr val="224248"/>
                </a:solidFill>
                <a:latin typeface="Calibri"/>
              </a:rPr>
              <a:t>1  fotball.no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" y="1975104"/>
            <a:ext cx="5029200" cy="292608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1400" b="0" i="0">
                <a:solidFill>
                  <a:srgbClr val="1A1A1A"/>
                </a:solidFill>
                <a:latin typeface="Calibri"/>
              </a:rPr>
              <a:t>Sport  ·  113 requests  ·  5 countries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400800" y="1627632"/>
            <a:ext cx="5303520" cy="749808"/>
          </a:xfrm>
          <a:prstGeom prst="rect">
            <a:avLst/>
          </a:prstGeom>
          <a:solidFill>
            <a:srgbClr val="325E6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583680" y="1682496"/>
            <a:ext cx="4937760" cy="292608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1600" b="1" i="0">
                <a:solidFill>
                  <a:srgbClr val="FFFFFF"/>
                </a:solidFill>
                <a:latin typeface="Calibri"/>
              </a:rPr>
              <a:t>1  lanekassen.no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583680" y="1975104"/>
            <a:ext cx="4937760" cy="292608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1400" b="0" i="0">
                <a:solidFill>
                  <a:srgbClr val="FFFFFF"/>
                </a:solidFill>
                <a:latin typeface="Calibri"/>
              </a:rPr>
              <a:t>Government  ·  1 request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57200" y="2450592"/>
            <a:ext cx="5394960" cy="749808"/>
          </a:xfrm>
          <a:prstGeom prst="rect">
            <a:avLst/>
          </a:prstGeom>
          <a:solidFill>
            <a:srgbClr val="44A1A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40080" y="2505456"/>
            <a:ext cx="5029200" cy="292608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1600" b="1" i="0">
                <a:solidFill>
                  <a:srgbClr val="224248"/>
                </a:solidFill>
                <a:latin typeface="Calibri"/>
              </a:rPr>
              <a:t>2  worldofwarcraft.com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0080" y="2798064"/>
            <a:ext cx="5029200" cy="292608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1400" b="0" i="0">
                <a:solidFill>
                  <a:srgbClr val="1A1A1A"/>
                </a:solidFill>
                <a:latin typeface="Calibri"/>
              </a:rPr>
              <a:t>News/media  ·  90  ·  4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400800" y="2450592"/>
            <a:ext cx="5303520" cy="749808"/>
          </a:xfrm>
          <a:prstGeom prst="rect">
            <a:avLst/>
          </a:prstGeom>
          <a:solidFill>
            <a:srgbClr val="325E6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583680" y="2505456"/>
            <a:ext cx="4937760" cy="292608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1600" b="1" i="0">
                <a:solidFill>
                  <a:srgbClr val="FFFFFF"/>
                </a:solidFill>
                <a:latin typeface="Calibri"/>
              </a:rPr>
              <a:t>2  altinn.no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583680" y="2798064"/>
            <a:ext cx="4937760" cy="292608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1400" b="0" i="0">
                <a:solidFill>
                  <a:srgbClr val="FFFFFF"/>
                </a:solidFill>
                <a:latin typeface="Calibri"/>
              </a:rPr>
              <a:t>Government  ·  5</a:t>
            </a:r>
          </a:p>
        </p:txBody>
      </p:sp>
      <p:sp>
        <p:nvSpPr>
          <p:cNvPr id="21" name="Rectangle 20"/>
          <p:cNvSpPr/>
          <p:nvPr/>
        </p:nvSpPr>
        <p:spPr>
          <a:xfrm>
            <a:off x="457200" y="3273552"/>
            <a:ext cx="5394960" cy="749808"/>
          </a:xfrm>
          <a:prstGeom prst="rect">
            <a:avLst/>
          </a:prstGeom>
          <a:solidFill>
            <a:srgbClr val="44A1A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0080" y="3328416"/>
            <a:ext cx="5029200" cy="292608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1600" b="1" i="0">
                <a:solidFill>
                  <a:srgbClr val="224248"/>
                </a:solidFill>
                <a:latin typeface="Calibri"/>
              </a:rPr>
              <a:t>3  document.no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40080" y="3621024"/>
            <a:ext cx="5029200" cy="292608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1400" b="0" i="0">
                <a:solidFill>
                  <a:srgbClr val="1A1A1A"/>
                </a:solidFill>
                <a:latin typeface="Calibri"/>
              </a:rPr>
              <a:t>News/media  ·  51  ·  6 (widest list)</a:t>
            </a:r>
          </a:p>
        </p:txBody>
      </p:sp>
      <p:sp>
        <p:nvSpPr>
          <p:cNvPr id="24" name="Rectangle 23"/>
          <p:cNvSpPr/>
          <p:nvPr/>
        </p:nvSpPr>
        <p:spPr>
          <a:xfrm>
            <a:off x="6400800" y="3273552"/>
            <a:ext cx="5303520" cy="749808"/>
          </a:xfrm>
          <a:prstGeom prst="rect">
            <a:avLst/>
          </a:prstGeom>
          <a:solidFill>
            <a:srgbClr val="325E6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583680" y="3328416"/>
            <a:ext cx="4937760" cy="292608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1600" b="1" i="0">
                <a:solidFill>
                  <a:srgbClr val="FFFFFF"/>
                </a:solidFill>
                <a:latin typeface="Calibri"/>
              </a:rPr>
              <a:t>3  nrk.no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583680" y="3621024"/>
            <a:ext cx="4937760" cy="292608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1400" b="0" i="0">
                <a:solidFill>
                  <a:srgbClr val="FFFFFF"/>
                </a:solidFill>
                <a:latin typeface="Calibri"/>
              </a:rPr>
              <a:t>News/media  ·  7</a:t>
            </a:r>
          </a:p>
        </p:txBody>
      </p:sp>
      <p:sp>
        <p:nvSpPr>
          <p:cNvPr id="27" name="Rectangle 26"/>
          <p:cNvSpPr/>
          <p:nvPr/>
        </p:nvSpPr>
        <p:spPr>
          <a:xfrm>
            <a:off x="457200" y="4096512"/>
            <a:ext cx="5394960" cy="749808"/>
          </a:xfrm>
          <a:prstGeom prst="rect">
            <a:avLst/>
          </a:prstGeom>
          <a:solidFill>
            <a:srgbClr val="44A1A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40080" y="4151376"/>
            <a:ext cx="5029200" cy="292608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1600" b="1" i="0">
                <a:solidFill>
                  <a:srgbClr val="224248"/>
                </a:solidFill>
                <a:latin typeface="Calibri"/>
              </a:rPr>
              <a:t>4  aftenposten.no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40080" y="4443984"/>
            <a:ext cx="5029200" cy="292608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1400" b="0" i="0">
                <a:solidFill>
                  <a:srgbClr val="1A1A1A"/>
                </a:solidFill>
                <a:latin typeface="Calibri"/>
              </a:rPr>
              <a:t>News/media  ·  48  ·  5</a:t>
            </a:r>
          </a:p>
        </p:txBody>
      </p:sp>
      <p:sp>
        <p:nvSpPr>
          <p:cNvPr id="30" name="Rectangle 29"/>
          <p:cNvSpPr/>
          <p:nvPr/>
        </p:nvSpPr>
        <p:spPr>
          <a:xfrm>
            <a:off x="6400800" y="4096512"/>
            <a:ext cx="5303520" cy="749808"/>
          </a:xfrm>
          <a:prstGeom prst="rect">
            <a:avLst/>
          </a:prstGeom>
          <a:solidFill>
            <a:srgbClr val="325E6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6583680" y="4151376"/>
            <a:ext cx="4937760" cy="292608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1600" b="1" i="0">
                <a:solidFill>
                  <a:srgbClr val="FFFFFF"/>
                </a:solidFill>
                <a:latin typeface="Calibri"/>
              </a:rPr>
              <a:t>4  spotify.no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583680" y="4443984"/>
            <a:ext cx="4937760" cy="292608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1400" b="0" i="0">
                <a:solidFill>
                  <a:srgbClr val="FFFFFF"/>
                </a:solidFill>
                <a:latin typeface="Calibri"/>
              </a:rPr>
              <a:t>News/media  ·  10</a:t>
            </a:r>
          </a:p>
        </p:txBody>
      </p:sp>
      <p:sp>
        <p:nvSpPr>
          <p:cNvPr id="33" name="Rectangle 32"/>
          <p:cNvSpPr/>
          <p:nvPr/>
        </p:nvSpPr>
        <p:spPr>
          <a:xfrm>
            <a:off x="457200" y="4919472"/>
            <a:ext cx="5394960" cy="749808"/>
          </a:xfrm>
          <a:prstGeom prst="rect">
            <a:avLst/>
          </a:prstGeom>
          <a:solidFill>
            <a:srgbClr val="44A1A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640080" y="4974336"/>
            <a:ext cx="5029200" cy="292608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1600" b="1" i="0">
                <a:solidFill>
                  <a:srgbClr val="224248"/>
                </a:solidFill>
                <a:latin typeface="Calibri"/>
              </a:rPr>
              <a:t>5  klassekampen.no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40080" y="5266944"/>
            <a:ext cx="5029200" cy="292608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1400" b="0" i="0">
                <a:solidFill>
                  <a:srgbClr val="1A1A1A"/>
                </a:solidFill>
                <a:latin typeface="Calibri"/>
              </a:rPr>
              <a:t>News/media  ·  46  ·  2</a:t>
            </a:r>
          </a:p>
        </p:txBody>
      </p:sp>
      <p:sp>
        <p:nvSpPr>
          <p:cNvPr id="36" name="Rectangle 35"/>
          <p:cNvSpPr/>
          <p:nvPr/>
        </p:nvSpPr>
        <p:spPr>
          <a:xfrm>
            <a:off x="6400800" y="4919472"/>
            <a:ext cx="5303520" cy="749808"/>
          </a:xfrm>
          <a:prstGeom prst="rect">
            <a:avLst/>
          </a:prstGeom>
          <a:solidFill>
            <a:srgbClr val="325E6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6583680" y="4974336"/>
            <a:ext cx="4937760" cy="292608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1600" b="1" i="0">
                <a:solidFill>
                  <a:srgbClr val="FFFFFF"/>
                </a:solidFill>
                <a:latin typeface="Calibri"/>
              </a:rPr>
              <a:t>5  skiforeningen.no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6583680" y="5266944"/>
            <a:ext cx="4937760" cy="292608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1400" b="0" i="0">
                <a:solidFill>
                  <a:srgbClr val="FFFFFF"/>
                </a:solidFill>
                <a:latin typeface="Calibri"/>
              </a:rPr>
              <a:t>Sport  ·  14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457200" y="6263640"/>
            <a:ext cx="11247120" cy="34747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1300" b="0" i="0">
                <a:solidFill>
                  <a:srgbClr val="4A5568"/>
                </a:solidFill>
                <a:latin typeface="Calibri"/>
              </a:rPr>
              <a:t>Ranked on Table 2 requests. lanekassen.no and altinn.no have the fewest government requests. babyshop.no is 101 on Table 3; rankings stay on Table 2.</a:t>
            </a:r>
          </a:p>
        </p:txBody>
      </p:sp>
      <p:sp>
        <p:nvSpPr>
          <p:cNvPr id="40" name="Rectangle 39"/>
          <p:cNvSpPr/>
          <p:nvPr/>
        </p:nvSpPr>
        <p:spPr>
          <a:xfrm>
            <a:off x="0" y="6656832"/>
            <a:ext cx="12191695" cy="201168"/>
          </a:xfrm>
          <a:prstGeom prst="rect">
            <a:avLst/>
          </a:prstGeom>
          <a:solidFill>
            <a:srgbClr val="2242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6656832"/>
            <a:ext cx="9144000" cy="201168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1100" b="0" i="0">
                <a:solidFill>
                  <a:srgbClr val="FFFFFF"/>
                </a:solidFill>
                <a:latin typeface="Calibri"/>
              </a:rPr>
              <a:t>ACIT4280 Group Assignment 1A  |  3 Sep 2026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0424160" y="6656832"/>
            <a:ext cx="1371600" cy="201168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r"/>
            <a:r>
              <a:rPr sz="1100" b="0" i="0">
                <a:solidFill>
                  <a:srgbClr val="FFFFFF"/>
                </a:solidFill>
                <a:latin typeface="Calibri"/>
              </a:rPr>
              <a:t>4 / 15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E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2242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51560"/>
            <a:ext cx="12191695" cy="73152"/>
          </a:xfrm>
          <a:prstGeom prst="rect">
            <a:avLst/>
          </a:prstGeom>
          <a:solidFill>
            <a:srgbClr val="FF9A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109728"/>
            <a:ext cx="11247120" cy="292608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1200" b="1" i="0">
                <a:solidFill>
                  <a:srgbClr val="44A1A4"/>
                </a:solidFill>
                <a:latin typeface="Calibri"/>
              </a:rPr>
              <a:t>Part 1  ·  Figures 2 to 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384048"/>
            <a:ext cx="11247120" cy="566928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2800" b="1" i="0">
                <a:solidFill>
                  <a:srgbClr val="FFFFFF"/>
                </a:solidFill>
                <a:latin typeface="Calibri"/>
              </a:rPr>
              <a:t>Third-party requests by site and sector</a:t>
            </a:r>
          </a:p>
        </p:txBody>
      </p:sp>
      <p:pic>
        <p:nvPicPr>
          <p:cNvPr id="7" name="Picture 6" descr="fig3_requests_all18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1207008"/>
            <a:ext cx="5943600" cy="4709160"/>
          </a:xfrm>
          <a:prstGeom prst="rect">
            <a:avLst/>
          </a:prstGeom>
        </p:spPr>
      </p:pic>
      <p:pic>
        <p:nvPicPr>
          <p:cNvPr id="8" name="Picture 7" descr="fig5_share_requests_pi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355080" y="1207008"/>
            <a:ext cx="5486400" cy="2286000"/>
          </a:xfrm>
          <a:prstGeom prst="rect">
            <a:avLst/>
          </a:prstGeom>
        </p:spPr>
      </p:pic>
      <p:pic>
        <p:nvPicPr>
          <p:cNvPr id="9" name="Picture 8" descr="fig6_requests_per_sector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355080" y="3566160"/>
            <a:ext cx="5486400" cy="233172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365760" y="6263640"/>
            <a:ext cx="11430000" cy="34747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1300" b="0" i="0">
                <a:solidFill>
                  <a:srgbClr val="4A5568"/>
                </a:solidFill>
                <a:latin typeface="Calibri"/>
              </a:rPr>
              <a:t>Table 2. News/media is the highest sector. Government is the lowest. Sport is high because of fotball.no.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656832"/>
            <a:ext cx="12191695" cy="201168"/>
          </a:xfrm>
          <a:prstGeom prst="rect">
            <a:avLst/>
          </a:prstGeom>
          <a:solidFill>
            <a:srgbClr val="2242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65760" y="6656832"/>
            <a:ext cx="9144000" cy="201168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1100" b="0" i="0">
                <a:solidFill>
                  <a:srgbClr val="FFFFFF"/>
                </a:solidFill>
                <a:latin typeface="Calibri"/>
              </a:rPr>
              <a:t>ACIT4280 Group Assignment 1A  |  3 Sep 2026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424160" y="6656832"/>
            <a:ext cx="1371600" cy="201168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r"/>
            <a:r>
              <a:rPr sz="1100" b="0" i="0">
                <a:solidFill>
                  <a:srgbClr val="FFFFFF"/>
                </a:solidFill>
                <a:latin typeface="Calibri"/>
              </a:rPr>
              <a:t>5 / 15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E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2242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51560"/>
            <a:ext cx="12191695" cy="73152"/>
          </a:xfrm>
          <a:prstGeom prst="rect">
            <a:avLst/>
          </a:prstGeom>
          <a:solidFill>
            <a:srgbClr val="FF9A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109728"/>
            <a:ext cx="11247120" cy="292608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1200" b="1" i="0">
                <a:solidFill>
                  <a:srgbClr val="44A1A4"/>
                </a:solidFill>
                <a:latin typeface="Calibri"/>
              </a:rPr>
              <a:t>Part 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384048"/>
            <a:ext cx="11247120" cy="566928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2800" b="1" i="0">
                <a:solidFill>
                  <a:srgbClr val="FFFFFF"/>
                </a:solidFill>
                <a:latin typeface="Calibri"/>
              </a:rPr>
              <a:t>ICO: one purpose at a time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1371600"/>
            <a:ext cx="11155680" cy="502920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1200"/>
              </a:spcAft>
            </a:pPr>
            <a:r>
              <a:rPr sz="2000" b="0" i="0">
                <a:solidFill>
                  <a:srgbClr val="1A1A1A"/>
                </a:solidFill>
                <a:latin typeface="Calibri"/>
              </a:rPr>
              <a:t>Official ICO Word reports dated 26 August 2026. The labels are guidance, not a court finding.</a:t>
            </a:r>
          </a:p>
          <a:p>
            <a:pPr algn="l">
              <a:spcBef>
                <a:spcPts val="0"/>
              </a:spcBef>
              <a:spcAft>
                <a:spcPts val="1200"/>
              </a:spcAft>
            </a:pPr>
            <a:r>
              <a:rPr sz="2000" b="0" i="0">
                <a:solidFill>
                  <a:srgbClr val="1A1A1A"/>
                </a:solidFill>
                <a:latin typeface="Calibri"/>
              </a:rPr>
              <a:t>One purpose per run. Compare what the notice claims with what ICO marks.</a:t>
            </a:r>
          </a:p>
          <a:p>
            <a:pPr algn="l">
              <a:spcBef>
                <a:spcPts val="0"/>
              </a:spcBef>
              <a:spcAft>
                <a:spcPts val="1200"/>
              </a:spcAft>
            </a:pPr>
            <a:r>
              <a:rPr sz="2000" b="0" i="0">
                <a:solidFill>
                  <a:srgbClr val="1A1A1A"/>
                </a:solidFill>
                <a:latin typeface="Calibri"/>
              </a:rPr>
              <a:t>Yes: notice and ICO line up for that purpose. Partial: the notice aims at consent; ICO marks INCONCLUSIVE.</a:t>
            </a:r>
          </a:p>
          <a:p>
            <a:pPr algn="l">
              <a:spcBef>
                <a:spcPts val="0"/>
              </a:spcBef>
              <a:spcAft>
                <a:spcPts val="1200"/>
              </a:spcAft>
            </a:pPr>
            <a:r>
              <a:rPr sz="2000" b="0" i="0">
                <a:solidFill>
                  <a:srgbClr val="1A1A1A"/>
                </a:solidFill>
                <a:latin typeface="Calibri"/>
              </a:rPr>
              <a:t>Tax, cookies, checkout and marketing are different purposes.</a:t>
            </a:r>
          </a:p>
        </p:txBody>
      </p:sp>
      <p:sp>
        <p:nvSpPr>
          <p:cNvPr id="8" name="Rectangle 7"/>
          <p:cNvSpPr/>
          <p:nvPr/>
        </p:nvSpPr>
        <p:spPr>
          <a:xfrm>
            <a:off x="0" y="6656832"/>
            <a:ext cx="12191695" cy="201168"/>
          </a:xfrm>
          <a:prstGeom prst="rect">
            <a:avLst/>
          </a:prstGeom>
          <a:solidFill>
            <a:srgbClr val="2242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65760" y="6656832"/>
            <a:ext cx="9144000" cy="201168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1100" b="0" i="0">
                <a:solidFill>
                  <a:srgbClr val="FFFFFF"/>
                </a:solidFill>
                <a:latin typeface="Calibri"/>
              </a:rPr>
              <a:t>ACIT4280 Group Assignment 1A  |  3 Sep 2026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424160" y="6656832"/>
            <a:ext cx="1371600" cy="201168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r"/>
            <a:r>
              <a:rPr sz="1100" b="0" i="0">
                <a:solidFill>
                  <a:srgbClr val="FFFFFF"/>
                </a:solidFill>
                <a:latin typeface="Calibri"/>
              </a:rPr>
              <a:t>6 / 15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E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2242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51560"/>
            <a:ext cx="12191695" cy="73152"/>
          </a:xfrm>
          <a:prstGeom prst="rect">
            <a:avLst/>
          </a:prstGeom>
          <a:solidFill>
            <a:srgbClr val="FF9A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109728"/>
            <a:ext cx="11247120" cy="292608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1200" b="1" i="0">
                <a:solidFill>
                  <a:srgbClr val="44A1A4"/>
                </a:solidFill>
                <a:latin typeface="Calibri"/>
              </a:rPr>
              <a:t>Part 2  ·  Table 5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384048"/>
            <a:ext cx="11247120" cy="566928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2800" b="1" i="0">
                <a:solidFill>
                  <a:srgbClr val="FFFFFF"/>
                </a:solidFill>
                <a:latin typeface="Calibri"/>
              </a:rPr>
              <a:t>ICO result versus the notice</a:t>
            </a:r>
          </a:p>
        </p:txBody>
      </p:sp>
      <p:sp>
        <p:nvSpPr>
          <p:cNvPr id="7" name="Rectangle 6"/>
          <p:cNvSpPr/>
          <p:nvPr/>
        </p:nvSpPr>
        <p:spPr>
          <a:xfrm>
            <a:off x="365760" y="1280160"/>
            <a:ext cx="2560320" cy="621792"/>
          </a:xfrm>
          <a:prstGeom prst="rect">
            <a:avLst/>
          </a:prstGeom>
          <a:solidFill>
            <a:srgbClr val="2242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38912" y="1444752"/>
            <a:ext cx="2468880" cy="36576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  <a:latin typeface="Calibri"/>
              </a:rPr>
              <a:t>Service</a:t>
            </a:r>
          </a:p>
        </p:txBody>
      </p:sp>
      <p:sp>
        <p:nvSpPr>
          <p:cNvPr id="9" name="Rectangle 8"/>
          <p:cNvSpPr/>
          <p:nvPr/>
        </p:nvSpPr>
        <p:spPr>
          <a:xfrm>
            <a:off x="2926080" y="1280160"/>
            <a:ext cx="3108960" cy="621792"/>
          </a:xfrm>
          <a:prstGeom prst="rect">
            <a:avLst/>
          </a:prstGeom>
          <a:solidFill>
            <a:srgbClr val="2242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2999232" y="1444752"/>
            <a:ext cx="3017520" cy="36576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  <a:latin typeface="Calibri"/>
              </a:rPr>
              <a:t>Purpose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035040" y="1280160"/>
            <a:ext cx="4389120" cy="621792"/>
          </a:xfrm>
          <a:prstGeom prst="rect">
            <a:avLst/>
          </a:prstGeom>
          <a:solidFill>
            <a:srgbClr val="2242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108192" y="1444752"/>
            <a:ext cx="4297680" cy="36576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  <a:latin typeface="Calibri"/>
              </a:rPr>
              <a:t>ICO</a:t>
            </a:r>
          </a:p>
        </p:txBody>
      </p:sp>
      <p:sp>
        <p:nvSpPr>
          <p:cNvPr id="13" name="Rectangle 12"/>
          <p:cNvSpPr/>
          <p:nvPr/>
        </p:nvSpPr>
        <p:spPr>
          <a:xfrm>
            <a:off x="10424160" y="1280160"/>
            <a:ext cx="1371600" cy="621792"/>
          </a:xfrm>
          <a:prstGeom prst="rect">
            <a:avLst/>
          </a:prstGeom>
          <a:solidFill>
            <a:srgbClr val="2242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497312" y="1444752"/>
            <a:ext cx="1280160" cy="36576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  <a:latin typeface="Calibri"/>
              </a:rPr>
              <a:t>Match</a:t>
            </a:r>
          </a:p>
        </p:txBody>
      </p:sp>
      <p:sp>
        <p:nvSpPr>
          <p:cNvPr id="15" name="Rectangle 14"/>
          <p:cNvSpPr/>
          <p:nvPr/>
        </p:nvSpPr>
        <p:spPr>
          <a:xfrm>
            <a:off x="365760" y="1901952"/>
            <a:ext cx="2560320" cy="62179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38912" y="2066544"/>
            <a:ext cx="2450592" cy="41148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1400" b="1" i="0">
                <a:solidFill>
                  <a:srgbClr val="1A1A1A"/>
                </a:solidFill>
                <a:latin typeface="Calibri"/>
              </a:rPr>
              <a:t>skatteetaten.no</a:t>
            </a:r>
          </a:p>
        </p:txBody>
      </p:sp>
      <p:sp>
        <p:nvSpPr>
          <p:cNvPr id="17" name="Rectangle 16"/>
          <p:cNvSpPr/>
          <p:nvPr/>
        </p:nvSpPr>
        <p:spPr>
          <a:xfrm>
            <a:off x="2926080" y="1901952"/>
            <a:ext cx="3108960" cy="62179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2999232" y="2066544"/>
            <a:ext cx="2999232" cy="41148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1400" b="0" i="0">
                <a:solidFill>
                  <a:srgbClr val="1A1A1A"/>
                </a:solidFill>
                <a:latin typeface="Calibri"/>
              </a:rPr>
              <a:t>Tax / folkeregister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035040" y="1901952"/>
            <a:ext cx="4389120" cy="62179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108192" y="2066544"/>
            <a:ext cx="4279392" cy="41148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1400" b="0" i="0">
                <a:solidFill>
                  <a:srgbClr val="1A1A1A"/>
                </a:solidFill>
                <a:latin typeface="Calibri"/>
              </a:rPr>
              <a:t>Legal obligation + public task</a:t>
            </a:r>
          </a:p>
        </p:txBody>
      </p:sp>
      <p:sp>
        <p:nvSpPr>
          <p:cNvPr id="21" name="Rectangle 20"/>
          <p:cNvSpPr/>
          <p:nvPr/>
        </p:nvSpPr>
        <p:spPr>
          <a:xfrm>
            <a:off x="10424160" y="1901952"/>
            <a:ext cx="1371600" cy="62179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0497312" y="2066544"/>
            <a:ext cx="1261872" cy="41148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1400" b="1" i="0">
                <a:solidFill>
                  <a:srgbClr val="224248"/>
                </a:solidFill>
                <a:latin typeface="Calibri"/>
              </a:rPr>
              <a:t>Yes</a:t>
            </a:r>
          </a:p>
        </p:txBody>
      </p:sp>
      <p:sp>
        <p:nvSpPr>
          <p:cNvPr id="23" name="Rectangle 22"/>
          <p:cNvSpPr/>
          <p:nvPr/>
        </p:nvSpPr>
        <p:spPr>
          <a:xfrm>
            <a:off x="365760" y="2523744"/>
            <a:ext cx="2560320" cy="621792"/>
          </a:xfrm>
          <a:prstGeom prst="rect">
            <a:avLst/>
          </a:prstGeom>
          <a:solidFill>
            <a:srgbClr val="44A1A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438912" y="2688336"/>
            <a:ext cx="2450592" cy="41148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1400" b="1" i="0">
                <a:solidFill>
                  <a:srgbClr val="1A1A1A"/>
                </a:solidFill>
                <a:latin typeface="Calibri"/>
              </a:rPr>
              <a:t>skatteetaten.no</a:t>
            </a:r>
          </a:p>
        </p:txBody>
      </p:sp>
      <p:sp>
        <p:nvSpPr>
          <p:cNvPr id="25" name="Rectangle 24"/>
          <p:cNvSpPr/>
          <p:nvPr/>
        </p:nvSpPr>
        <p:spPr>
          <a:xfrm>
            <a:off x="2926080" y="2523744"/>
            <a:ext cx="3108960" cy="621792"/>
          </a:xfrm>
          <a:prstGeom prst="rect">
            <a:avLst/>
          </a:prstGeom>
          <a:solidFill>
            <a:srgbClr val="44A1A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2999232" y="2688336"/>
            <a:ext cx="2999232" cy="41148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1400" b="0" i="0">
                <a:solidFill>
                  <a:srgbClr val="1A1A1A"/>
                </a:solidFill>
                <a:latin typeface="Calibri"/>
              </a:rPr>
              <a:t>Optional cookies</a:t>
            </a:r>
          </a:p>
        </p:txBody>
      </p:sp>
      <p:sp>
        <p:nvSpPr>
          <p:cNvPr id="27" name="Rectangle 26"/>
          <p:cNvSpPr/>
          <p:nvPr/>
        </p:nvSpPr>
        <p:spPr>
          <a:xfrm>
            <a:off x="6035040" y="2523744"/>
            <a:ext cx="4389120" cy="621792"/>
          </a:xfrm>
          <a:prstGeom prst="rect">
            <a:avLst/>
          </a:prstGeom>
          <a:solidFill>
            <a:srgbClr val="44A1A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108192" y="2688336"/>
            <a:ext cx="4279392" cy="41148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1400" b="0" i="0">
                <a:solidFill>
                  <a:srgbClr val="1A1A1A"/>
                </a:solidFill>
                <a:latin typeface="Calibri"/>
              </a:rPr>
              <a:t>Consent INCONCLUSIVE</a:t>
            </a:r>
          </a:p>
        </p:txBody>
      </p:sp>
      <p:sp>
        <p:nvSpPr>
          <p:cNvPr id="29" name="Rectangle 28"/>
          <p:cNvSpPr/>
          <p:nvPr/>
        </p:nvSpPr>
        <p:spPr>
          <a:xfrm>
            <a:off x="10424160" y="2523744"/>
            <a:ext cx="1371600" cy="621792"/>
          </a:xfrm>
          <a:prstGeom prst="rect">
            <a:avLst/>
          </a:prstGeom>
          <a:solidFill>
            <a:srgbClr val="44A1A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10497312" y="2688336"/>
            <a:ext cx="1261872" cy="41148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1400" b="1" i="0">
                <a:solidFill>
                  <a:srgbClr val="FF9A00"/>
                </a:solidFill>
                <a:latin typeface="Calibri"/>
              </a:rPr>
              <a:t>Partial</a:t>
            </a:r>
          </a:p>
        </p:txBody>
      </p:sp>
      <p:sp>
        <p:nvSpPr>
          <p:cNvPr id="31" name="Rectangle 30"/>
          <p:cNvSpPr/>
          <p:nvPr/>
        </p:nvSpPr>
        <p:spPr>
          <a:xfrm>
            <a:off x="365760" y="3145536"/>
            <a:ext cx="2560320" cy="62179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438912" y="3310128"/>
            <a:ext cx="2450592" cy="41148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1400" b="1" i="0">
                <a:solidFill>
                  <a:srgbClr val="1A1A1A"/>
                </a:solidFill>
                <a:latin typeface="Calibri"/>
              </a:rPr>
              <a:t>netflix.no</a:t>
            </a:r>
          </a:p>
        </p:txBody>
      </p:sp>
      <p:sp>
        <p:nvSpPr>
          <p:cNvPr id="33" name="Rectangle 32"/>
          <p:cNvSpPr/>
          <p:nvPr/>
        </p:nvSpPr>
        <p:spPr>
          <a:xfrm>
            <a:off x="2926080" y="3145536"/>
            <a:ext cx="3108960" cy="62179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2999232" y="3310128"/>
            <a:ext cx="2999232" cy="41148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1400" b="0" i="0">
                <a:solidFill>
                  <a:srgbClr val="1A1A1A"/>
                </a:solidFill>
                <a:latin typeface="Calibri"/>
              </a:rPr>
              <a:t>Paid streaming</a:t>
            </a:r>
          </a:p>
        </p:txBody>
      </p:sp>
      <p:sp>
        <p:nvSpPr>
          <p:cNvPr id="35" name="Rectangle 34"/>
          <p:cNvSpPr/>
          <p:nvPr/>
        </p:nvSpPr>
        <p:spPr>
          <a:xfrm>
            <a:off x="6035040" y="3145536"/>
            <a:ext cx="4389120" cy="62179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6108192" y="3310128"/>
            <a:ext cx="4279392" cy="41148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1400" b="0" i="0">
                <a:solidFill>
                  <a:srgbClr val="1A1A1A"/>
                </a:solidFill>
                <a:latin typeface="Calibri"/>
              </a:rPr>
              <a:t>Contract</a:t>
            </a:r>
          </a:p>
        </p:txBody>
      </p:sp>
      <p:sp>
        <p:nvSpPr>
          <p:cNvPr id="37" name="Rectangle 36"/>
          <p:cNvSpPr/>
          <p:nvPr/>
        </p:nvSpPr>
        <p:spPr>
          <a:xfrm>
            <a:off x="10424160" y="3145536"/>
            <a:ext cx="1371600" cy="62179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10497312" y="3310128"/>
            <a:ext cx="1261872" cy="41148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1400" b="1" i="0">
                <a:solidFill>
                  <a:srgbClr val="224248"/>
                </a:solidFill>
                <a:latin typeface="Calibri"/>
              </a:rPr>
              <a:t>Yes</a:t>
            </a:r>
          </a:p>
        </p:txBody>
      </p:sp>
      <p:sp>
        <p:nvSpPr>
          <p:cNvPr id="39" name="Rectangle 38"/>
          <p:cNvSpPr/>
          <p:nvPr/>
        </p:nvSpPr>
        <p:spPr>
          <a:xfrm>
            <a:off x="365760" y="3767328"/>
            <a:ext cx="2560320" cy="621792"/>
          </a:xfrm>
          <a:prstGeom prst="rect">
            <a:avLst/>
          </a:prstGeom>
          <a:solidFill>
            <a:srgbClr val="E8F4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438912" y="3931920"/>
            <a:ext cx="2450592" cy="41148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1400" b="1" i="0">
                <a:solidFill>
                  <a:srgbClr val="1A1A1A"/>
                </a:solidFill>
                <a:latin typeface="Calibri"/>
              </a:rPr>
              <a:t>fotball.no</a:t>
            </a:r>
          </a:p>
        </p:txBody>
      </p:sp>
      <p:sp>
        <p:nvSpPr>
          <p:cNvPr id="41" name="Rectangle 40"/>
          <p:cNvSpPr/>
          <p:nvPr/>
        </p:nvSpPr>
        <p:spPr>
          <a:xfrm>
            <a:off x="2926080" y="3767328"/>
            <a:ext cx="3108960" cy="621792"/>
          </a:xfrm>
          <a:prstGeom prst="rect">
            <a:avLst/>
          </a:prstGeom>
          <a:solidFill>
            <a:srgbClr val="E8F4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2999232" y="3931920"/>
            <a:ext cx="2999232" cy="41148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1400" b="0" i="0">
                <a:solidFill>
                  <a:srgbClr val="1A1A1A"/>
                </a:solidFill>
                <a:latin typeface="Calibri"/>
              </a:rPr>
              <a:t>Name + club, 13+</a:t>
            </a:r>
          </a:p>
        </p:txBody>
      </p:sp>
      <p:sp>
        <p:nvSpPr>
          <p:cNvPr id="43" name="Rectangle 42"/>
          <p:cNvSpPr/>
          <p:nvPr/>
        </p:nvSpPr>
        <p:spPr>
          <a:xfrm>
            <a:off x="6035040" y="3767328"/>
            <a:ext cx="4389120" cy="621792"/>
          </a:xfrm>
          <a:prstGeom prst="rect">
            <a:avLst/>
          </a:prstGeom>
          <a:solidFill>
            <a:srgbClr val="E8F4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6108192" y="3931920"/>
            <a:ext cx="4279392" cy="41148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1400" b="0" i="0">
                <a:solidFill>
                  <a:srgbClr val="1A1A1A"/>
                </a:solidFill>
                <a:latin typeface="Calibri"/>
              </a:rPr>
              <a:t>Legitimate interests</a:t>
            </a:r>
          </a:p>
        </p:txBody>
      </p:sp>
      <p:sp>
        <p:nvSpPr>
          <p:cNvPr id="45" name="Rectangle 44"/>
          <p:cNvSpPr/>
          <p:nvPr/>
        </p:nvSpPr>
        <p:spPr>
          <a:xfrm>
            <a:off x="10424160" y="3767328"/>
            <a:ext cx="1371600" cy="621792"/>
          </a:xfrm>
          <a:prstGeom prst="rect">
            <a:avLst/>
          </a:prstGeom>
          <a:solidFill>
            <a:srgbClr val="E8F4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10497312" y="3931920"/>
            <a:ext cx="1261872" cy="41148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1400" b="1" i="0">
                <a:solidFill>
                  <a:srgbClr val="224248"/>
                </a:solidFill>
                <a:latin typeface="Calibri"/>
              </a:rPr>
              <a:t>Yes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4389120"/>
            <a:ext cx="2560320" cy="621792"/>
          </a:xfrm>
          <a:prstGeom prst="rect">
            <a:avLst/>
          </a:prstGeom>
          <a:solidFill>
            <a:srgbClr val="44A1A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438912" y="4553712"/>
            <a:ext cx="2450592" cy="41148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1400" b="1" i="0">
                <a:solidFill>
                  <a:srgbClr val="1A1A1A"/>
                </a:solidFill>
                <a:latin typeface="Calibri"/>
              </a:rPr>
              <a:t>document.no</a:t>
            </a:r>
          </a:p>
        </p:txBody>
      </p:sp>
      <p:sp>
        <p:nvSpPr>
          <p:cNvPr id="49" name="Rectangle 48"/>
          <p:cNvSpPr/>
          <p:nvPr/>
        </p:nvSpPr>
        <p:spPr>
          <a:xfrm>
            <a:off x="2926080" y="4389120"/>
            <a:ext cx="3108960" cy="621792"/>
          </a:xfrm>
          <a:prstGeom prst="rect">
            <a:avLst/>
          </a:prstGeom>
          <a:solidFill>
            <a:srgbClr val="44A1A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2999232" y="4553712"/>
            <a:ext cx="2999232" cy="41148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1400" b="0" i="0">
                <a:solidFill>
                  <a:srgbClr val="1A1A1A"/>
                </a:solidFill>
                <a:latin typeface="Calibri"/>
              </a:rPr>
              <a:t>Google Signals</a:t>
            </a:r>
          </a:p>
        </p:txBody>
      </p:sp>
      <p:sp>
        <p:nvSpPr>
          <p:cNvPr id="51" name="Rectangle 50"/>
          <p:cNvSpPr/>
          <p:nvPr/>
        </p:nvSpPr>
        <p:spPr>
          <a:xfrm>
            <a:off x="6035040" y="4389120"/>
            <a:ext cx="4389120" cy="621792"/>
          </a:xfrm>
          <a:prstGeom prst="rect">
            <a:avLst/>
          </a:prstGeom>
          <a:solidFill>
            <a:srgbClr val="44A1A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6108192" y="4553712"/>
            <a:ext cx="4279392" cy="41148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1400" b="0" i="0">
                <a:solidFill>
                  <a:srgbClr val="1A1A1A"/>
                </a:solidFill>
                <a:latin typeface="Calibri"/>
              </a:rPr>
              <a:t>Consent INCONCLUSIVE</a:t>
            </a:r>
          </a:p>
        </p:txBody>
      </p:sp>
      <p:sp>
        <p:nvSpPr>
          <p:cNvPr id="53" name="Rectangle 52"/>
          <p:cNvSpPr/>
          <p:nvPr/>
        </p:nvSpPr>
        <p:spPr>
          <a:xfrm>
            <a:off x="10424160" y="4389120"/>
            <a:ext cx="1371600" cy="621792"/>
          </a:xfrm>
          <a:prstGeom prst="rect">
            <a:avLst/>
          </a:prstGeom>
          <a:solidFill>
            <a:srgbClr val="44A1A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TextBox 53"/>
          <p:cNvSpPr txBox="1"/>
          <p:nvPr/>
        </p:nvSpPr>
        <p:spPr>
          <a:xfrm>
            <a:off x="10497312" y="4553712"/>
            <a:ext cx="1261872" cy="41148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1400" b="1" i="0">
                <a:solidFill>
                  <a:srgbClr val="FF9A00"/>
                </a:solidFill>
                <a:latin typeface="Calibri"/>
              </a:rPr>
              <a:t>Partial</a:t>
            </a:r>
          </a:p>
        </p:txBody>
      </p:sp>
      <p:sp>
        <p:nvSpPr>
          <p:cNvPr id="55" name="Rectangle 54"/>
          <p:cNvSpPr/>
          <p:nvPr/>
        </p:nvSpPr>
        <p:spPr>
          <a:xfrm>
            <a:off x="365760" y="5010912"/>
            <a:ext cx="2560320" cy="621792"/>
          </a:xfrm>
          <a:prstGeom prst="rect">
            <a:avLst/>
          </a:prstGeom>
          <a:solidFill>
            <a:srgbClr val="E8F4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TextBox 55"/>
          <p:cNvSpPr txBox="1"/>
          <p:nvPr/>
        </p:nvSpPr>
        <p:spPr>
          <a:xfrm>
            <a:off x="438912" y="5175504"/>
            <a:ext cx="2450592" cy="41148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1400" b="1" i="0">
                <a:solidFill>
                  <a:srgbClr val="1A1A1A"/>
                </a:solidFill>
                <a:latin typeface="Calibri"/>
              </a:rPr>
              <a:t>babyshop.no</a:t>
            </a:r>
          </a:p>
        </p:txBody>
      </p:sp>
      <p:sp>
        <p:nvSpPr>
          <p:cNvPr id="57" name="Rectangle 56"/>
          <p:cNvSpPr/>
          <p:nvPr/>
        </p:nvSpPr>
        <p:spPr>
          <a:xfrm>
            <a:off x="2926080" y="5010912"/>
            <a:ext cx="3108960" cy="621792"/>
          </a:xfrm>
          <a:prstGeom prst="rect">
            <a:avLst/>
          </a:prstGeom>
          <a:solidFill>
            <a:srgbClr val="E8F4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TextBox 57"/>
          <p:cNvSpPr txBox="1"/>
          <p:nvPr/>
        </p:nvSpPr>
        <p:spPr>
          <a:xfrm>
            <a:off x="2999232" y="5175504"/>
            <a:ext cx="2999232" cy="41148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1400" b="0" i="0">
                <a:solidFill>
                  <a:srgbClr val="1A1A1A"/>
                </a:solidFill>
                <a:latin typeface="Calibri"/>
              </a:rPr>
              <a:t>Checkout</a:t>
            </a:r>
          </a:p>
        </p:txBody>
      </p:sp>
      <p:sp>
        <p:nvSpPr>
          <p:cNvPr id="59" name="Rectangle 58"/>
          <p:cNvSpPr/>
          <p:nvPr/>
        </p:nvSpPr>
        <p:spPr>
          <a:xfrm>
            <a:off x="6035040" y="5010912"/>
            <a:ext cx="4389120" cy="621792"/>
          </a:xfrm>
          <a:prstGeom prst="rect">
            <a:avLst/>
          </a:prstGeom>
          <a:solidFill>
            <a:srgbClr val="E8F4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TextBox 59"/>
          <p:cNvSpPr txBox="1"/>
          <p:nvPr/>
        </p:nvSpPr>
        <p:spPr>
          <a:xfrm>
            <a:off x="6108192" y="5175504"/>
            <a:ext cx="4279392" cy="41148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1400" b="0" i="0">
                <a:solidFill>
                  <a:srgbClr val="1A1A1A"/>
                </a:solidFill>
                <a:latin typeface="Calibri"/>
              </a:rPr>
              <a:t>Contract</a:t>
            </a:r>
          </a:p>
        </p:txBody>
      </p:sp>
      <p:sp>
        <p:nvSpPr>
          <p:cNvPr id="61" name="Rectangle 60"/>
          <p:cNvSpPr/>
          <p:nvPr/>
        </p:nvSpPr>
        <p:spPr>
          <a:xfrm>
            <a:off x="10424160" y="5010912"/>
            <a:ext cx="1371600" cy="621792"/>
          </a:xfrm>
          <a:prstGeom prst="rect">
            <a:avLst/>
          </a:prstGeom>
          <a:solidFill>
            <a:srgbClr val="E8F4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10497312" y="5175504"/>
            <a:ext cx="1261872" cy="41148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1400" b="1" i="0">
                <a:solidFill>
                  <a:srgbClr val="224248"/>
                </a:solidFill>
                <a:latin typeface="Calibri"/>
              </a:rPr>
              <a:t>Yes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365760" y="6144768"/>
            <a:ext cx="11430000" cy="45720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1600" b="0" i="0">
                <a:solidFill>
                  <a:srgbClr val="4A5568"/>
                </a:solidFill>
                <a:latin typeface="Calibri"/>
              </a:rPr>
              <a:t>ICO labels are guidance. Partial: the notice aims at consent; ICO does not mark consent APPROPRIATE.</a:t>
            </a:r>
          </a:p>
        </p:txBody>
      </p:sp>
      <p:sp>
        <p:nvSpPr>
          <p:cNvPr id="64" name="Rectangle 63"/>
          <p:cNvSpPr/>
          <p:nvPr/>
        </p:nvSpPr>
        <p:spPr>
          <a:xfrm>
            <a:off x="0" y="6656832"/>
            <a:ext cx="12191695" cy="201168"/>
          </a:xfrm>
          <a:prstGeom prst="rect">
            <a:avLst/>
          </a:prstGeom>
          <a:solidFill>
            <a:srgbClr val="2242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TextBox 64"/>
          <p:cNvSpPr txBox="1"/>
          <p:nvPr/>
        </p:nvSpPr>
        <p:spPr>
          <a:xfrm>
            <a:off x="365760" y="6656832"/>
            <a:ext cx="9144000" cy="201168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1100" b="0" i="0">
                <a:solidFill>
                  <a:srgbClr val="FFFFFF"/>
                </a:solidFill>
                <a:latin typeface="Calibri"/>
              </a:rPr>
              <a:t>ACIT4280 Group Assignment 1A  |  3 Sep 2026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10424160" y="6656832"/>
            <a:ext cx="1371600" cy="201168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r"/>
            <a:r>
              <a:rPr sz="1100" b="0" i="0">
                <a:solidFill>
                  <a:srgbClr val="FFFFFF"/>
                </a:solidFill>
                <a:latin typeface="Calibri"/>
              </a:rPr>
              <a:t>7 / 15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E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2242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51560"/>
            <a:ext cx="12191695" cy="73152"/>
          </a:xfrm>
          <a:prstGeom prst="rect">
            <a:avLst/>
          </a:prstGeom>
          <a:solidFill>
            <a:srgbClr val="FF9A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109728"/>
            <a:ext cx="11247120" cy="292608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1200" b="1" i="0">
                <a:solidFill>
                  <a:srgbClr val="44A1A4"/>
                </a:solidFill>
                <a:latin typeface="Calibri"/>
              </a:rPr>
              <a:t>Part 2  ·  Table 5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384048"/>
            <a:ext cx="11247120" cy="566928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2800" b="1" i="0">
                <a:solidFill>
                  <a:srgbClr val="FFFFFF"/>
                </a:solidFill>
                <a:latin typeface="Calibri"/>
              </a:rPr>
              <a:t>Four match, two consent tests Partial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1417320"/>
            <a:ext cx="11247120" cy="4434840"/>
          </a:xfrm>
          <a:prstGeom prst="rect">
            <a:avLst/>
          </a:prstGeom>
          <a:solidFill>
            <a:srgbClr val="44A1A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85800" y="1691640"/>
            <a:ext cx="10789920" cy="3977639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1400"/>
              </a:spcAft>
            </a:pPr>
            <a:r>
              <a:rPr sz="2000" b="1" i="0">
                <a:solidFill>
                  <a:srgbClr val="224248"/>
                </a:solidFill>
                <a:latin typeface="Calibri"/>
              </a:rPr>
              <a:t>Four core purposes match the notice: tax, paid streaming, match history, checkout.</a:t>
            </a:r>
          </a:p>
          <a:p>
            <a:pPr algn="l">
              <a:spcBef>
                <a:spcPts val="0"/>
              </a:spcBef>
              <a:spcAft>
                <a:spcPts val="1400"/>
              </a:spcAft>
            </a:pPr>
            <a:r>
              <a:rPr sz="2000" b="1" i="0">
                <a:solidFill>
                  <a:srgbClr val="FF9A00"/>
                </a:solidFill>
                <a:latin typeface="Calibri"/>
              </a:rPr>
              <a:t>Two consent tests are Partial: Skatteetaten optional cookies and document.no Google Signals.</a:t>
            </a:r>
          </a:p>
          <a:p>
            <a:pPr algn="l">
              <a:spcBef>
                <a:spcPts val="0"/>
              </a:spcBef>
              <a:spcAft>
                <a:spcPts val="1400"/>
              </a:spcAft>
            </a:pPr>
            <a:r>
              <a:rPr sz="1800" b="0" i="0">
                <a:solidFill>
                  <a:srgbClr val="224248"/>
                </a:solidFill>
                <a:latin typeface="Calibri"/>
              </a:rPr>
              <a:t>In both cases the notice claims consent, but the ICO marks consent INCONCLUSIVE.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800" b="0" i="0">
                <a:solidFill>
                  <a:srgbClr val="224248"/>
                </a:solidFill>
                <a:latin typeface="Calibri"/>
              </a:rPr>
              <a:t>Skatteetaten does not spell out clearly enough who processes the optional cookies and how to refuse them. document.no points users to Google ad settings; the ICO says that is not a clear, separate consent request, and Pluss terms bundle the notice.</a:t>
            </a:r>
          </a:p>
        </p:txBody>
      </p:sp>
      <p:sp>
        <p:nvSpPr>
          <p:cNvPr id="9" name="Rectangle 8"/>
          <p:cNvSpPr/>
          <p:nvPr/>
        </p:nvSpPr>
        <p:spPr>
          <a:xfrm>
            <a:off x="0" y="6656832"/>
            <a:ext cx="12191695" cy="201168"/>
          </a:xfrm>
          <a:prstGeom prst="rect">
            <a:avLst/>
          </a:prstGeom>
          <a:solidFill>
            <a:srgbClr val="2242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65760" y="6656832"/>
            <a:ext cx="9144000" cy="201168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1100" b="0" i="0">
                <a:solidFill>
                  <a:srgbClr val="FFFFFF"/>
                </a:solidFill>
                <a:latin typeface="Calibri"/>
              </a:rPr>
              <a:t>ACIT4280 Group Assignment 1A  |  3 Sep 2026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424160" y="6656832"/>
            <a:ext cx="1371600" cy="201168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r"/>
            <a:r>
              <a:rPr sz="1100" b="0" i="0">
                <a:solidFill>
                  <a:srgbClr val="FFFFFF"/>
                </a:solidFill>
                <a:latin typeface="Calibri"/>
              </a:rPr>
              <a:t>8 / 15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E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2242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51560"/>
            <a:ext cx="12191695" cy="73152"/>
          </a:xfrm>
          <a:prstGeom prst="rect">
            <a:avLst/>
          </a:prstGeom>
          <a:solidFill>
            <a:srgbClr val="FF9A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109728"/>
            <a:ext cx="11247120" cy="292608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1200" b="1" i="0">
                <a:solidFill>
                  <a:srgbClr val="44A1A4"/>
                </a:solidFill>
                <a:latin typeface="Calibri"/>
              </a:rPr>
              <a:t>Part 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384048"/>
            <a:ext cx="11247120" cy="566928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2800" b="1" i="0">
                <a:solidFill>
                  <a:srgbClr val="FFFFFF"/>
                </a:solidFill>
                <a:latin typeface="Calibri"/>
              </a:rPr>
              <a:t>skatteetaten.no: two purposes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1371600"/>
            <a:ext cx="11155680" cy="502920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1200"/>
              </a:spcAft>
            </a:pPr>
            <a:r>
              <a:rPr sz="2000" b="0" i="0">
                <a:solidFill>
                  <a:srgbClr val="1A1A1A"/>
                </a:solidFill>
                <a:latin typeface="Calibri"/>
              </a:rPr>
              <a:t>Tax and registry data: the law requires it. Opt-out is generally not possible.</a:t>
            </a:r>
          </a:p>
          <a:p>
            <a:pPr algn="l">
              <a:spcBef>
                <a:spcPts val="0"/>
              </a:spcBef>
              <a:spcAft>
                <a:spcPts val="1200"/>
              </a:spcAft>
            </a:pPr>
            <a:r>
              <a:rPr sz="2000" b="0" i="0">
                <a:solidFill>
                  <a:srgbClr val="1A1A1A"/>
                </a:solidFill>
                <a:latin typeface="Calibri"/>
              </a:rPr>
              <a:t>ICO: legal obligation and public task APPROPRIATE. Consent NOT APPROPRIATE. Match: Yes.</a:t>
            </a:r>
          </a:p>
          <a:p>
            <a:pPr algn="l">
              <a:spcBef>
                <a:spcPts val="0"/>
              </a:spcBef>
              <a:spcAft>
                <a:spcPts val="1200"/>
              </a:spcAft>
            </a:pPr>
            <a:r>
              <a:rPr sz="2000" b="0" i="0">
                <a:solidFill>
                  <a:srgbClr val="1A1A1A"/>
                </a:solidFill>
                <a:latin typeface="Calibri"/>
              </a:rPr>
              <a:t>Optional statistics cookies: the notice claims consent.</a:t>
            </a:r>
          </a:p>
          <a:p>
            <a:pPr algn="l">
              <a:spcBef>
                <a:spcPts val="0"/>
              </a:spcBef>
              <a:spcAft>
                <a:spcPts val="1200"/>
              </a:spcAft>
            </a:pPr>
            <a:r>
              <a:rPr sz="2000" b="0" i="0">
                <a:solidFill>
                  <a:srgbClr val="1A1A1A"/>
                </a:solidFill>
                <a:latin typeface="Calibri"/>
              </a:rPr>
              <a:t>ICO: consent INCONCLUSIVE; no basis APPROPRIATE. Match: Partial.</a:t>
            </a:r>
          </a:p>
        </p:txBody>
      </p:sp>
      <p:sp>
        <p:nvSpPr>
          <p:cNvPr id="8" name="Rectangle 7"/>
          <p:cNvSpPr/>
          <p:nvPr/>
        </p:nvSpPr>
        <p:spPr>
          <a:xfrm>
            <a:off x="0" y="6656832"/>
            <a:ext cx="12191695" cy="201168"/>
          </a:xfrm>
          <a:prstGeom prst="rect">
            <a:avLst/>
          </a:prstGeom>
          <a:solidFill>
            <a:srgbClr val="2242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65760" y="6656832"/>
            <a:ext cx="9144000" cy="201168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1100" b="0" i="0">
                <a:solidFill>
                  <a:srgbClr val="FFFFFF"/>
                </a:solidFill>
                <a:latin typeface="Calibri"/>
              </a:rPr>
              <a:t>ACIT4280 Group Assignment 1A  |  3 Sep 2026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424160" y="6656832"/>
            <a:ext cx="1371600" cy="201168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r"/>
            <a:r>
              <a:rPr sz="1100" b="0" i="0">
                <a:solidFill>
                  <a:srgbClr val="FFFFFF"/>
                </a:solidFill>
                <a:latin typeface="Calibri"/>
              </a:rPr>
              <a:t>9 / 15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E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2242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51560"/>
            <a:ext cx="12191695" cy="73152"/>
          </a:xfrm>
          <a:prstGeom prst="rect">
            <a:avLst/>
          </a:prstGeom>
          <a:solidFill>
            <a:srgbClr val="FF9A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109728"/>
            <a:ext cx="11247120" cy="292608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1200" b="1" i="0">
                <a:solidFill>
                  <a:srgbClr val="44A1A4"/>
                </a:solidFill>
                <a:latin typeface="Calibri"/>
              </a:rPr>
              <a:t>Part 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384048"/>
            <a:ext cx="11247120" cy="566928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2800" b="1" i="0">
                <a:solidFill>
                  <a:srgbClr val="FFFFFF"/>
                </a:solidFill>
                <a:latin typeface="Calibri"/>
              </a:rPr>
              <a:t>netflix.no: paid streaming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1371600"/>
            <a:ext cx="11155680" cy="502920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1200"/>
              </a:spcAft>
            </a:pPr>
            <a:r>
              <a:rPr sz="2000" b="0" i="0">
                <a:solidFill>
                  <a:srgbClr val="1A1A1A"/>
                </a:solidFill>
                <a:latin typeface="Calibri"/>
              </a:rPr>
              <a:t>Purpose: account and payment data needed to provide the paid service.</a:t>
            </a:r>
          </a:p>
          <a:p>
            <a:pPr algn="l">
              <a:spcBef>
                <a:spcPts val="0"/>
              </a:spcBef>
              <a:spcAft>
                <a:spcPts val="1200"/>
              </a:spcAft>
            </a:pPr>
            <a:r>
              <a:rPr sz="2000" b="0" i="0">
                <a:solidFill>
                  <a:srgbClr val="1A1A1A"/>
                </a:solidFill>
                <a:latin typeface="Calibri"/>
              </a:rPr>
              <a:t>Notice (EEA/UK): contractual necessity.</a:t>
            </a:r>
          </a:p>
          <a:p>
            <a:pPr algn="l">
              <a:spcBef>
                <a:spcPts val="0"/>
              </a:spcBef>
              <a:spcAft>
                <a:spcPts val="1200"/>
              </a:spcAft>
            </a:pPr>
            <a:r>
              <a:rPr sz="2000" b="0" i="0">
                <a:solidFill>
                  <a:srgbClr val="1A1A1A"/>
                </a:solidFill>
                <a:latin typeface="Calibri"/>
              </a:rPr>
              <a:t>ICO: contract APPROPRIATE. Consent marked likely invalid for this purpose.</a:t>
            </a:r>
          </a:p>
          <a:p>
            <a:pPr algn="l">
              <a:spcBef>
                <a:spcPts val="0"/>
              </a:spcBef>
              <a:spcAft>
                <a:spcPts val="1200"/>
              </a:spcAft>
            </a:pPr>
            <a:r>
              <a:rPr sz="2000" b="0" i="0">
                <a:solidFill>
                  <a:srgbClr val="1A1A1A"/>
                </a:solidFill>
                <a:latin typeface="Calibri"/>
              </a:rPr>
              <a:t>Ads and marketing in the same notice were left out.</a:t>
            </a:r>
          </a:p>
        </p:txBody>
      </p:sp>
      <p:sp>
        <p:nvSpPr>
          <p:cNvPr id="8" name="Rectangle 7"/>
          <p:cNvSpPr/>
          <p:nvPr/>
        </p:nvSpPr>
        <p:spPr>
          <a:xfrm>
            <a:off x="0" y="6656832"/>
            <a:ext cx="12191695" cy="201168"/>
          </a:xfrm>
          <a:prstGeom prst="rect">
            <a:avLst/>
          </a:prstGeom>
          <a:solidFill>
            <a:srgbClr val="2242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65760" y="6656832"/>
            <a:ext cx="9144000" cy="201168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1100" b="0" i="0">
                <a:solidFill>
                  <a:srgbClr val="FFFFFF"/>
                </a:solidFill>
                <a:latin typeface="Calibri"/>
              </a:rPr>
              <a:t>ACIT4280 Group Assignment 1A  |  3 Sep 2026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424160" y="6656832"/>
            <a:ext cx="1371600" cy="201168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r"/>
            <a:r>
              <a:rPr sz="1100" b="0" i="0">
                <a:solidFill>
                  <a:srgbClr val="FFFFFF"/>
                </a:solidFill>
                <a:latin typeface="Calibri"/>
              </a:rPr>
              <a:t>10 / 15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E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2242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51560"/>
            <a:ext cx="12191695" cy="73152"/>
          </a:xfrm>
          <a:prstGeom prst="rect">
            <a:avLst/>
          </a:prstGeom>
          <a:solidFill>
            <a:srgbClr val="FF9A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109728"/>
            <a:ext cx="11247120" cy="292608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1200" b="1" i="0">
                <a:solidFill>
                  <a:srgbClr val="44A1A4"/>
                </a:solidFill>
                <a:latin typeface="Calibri"/>
              </a:rPr>
              <a:t>Part 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384048"/>
            <a:ext cx="11247120" cy="566928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2800" b="1" i="0">
                <a:solidFill>
                  <a:srgbClr val="FFFFFF"/>
                </a:solidFill>
                <a:latin typeface="Calibri"/>
              </a:rPr>
              <a:t>fotball.no: match history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1371600"/>
            <a:ext cx="11155680" cy="502920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1200"/>
              </a:spcAft>
            </a:pPr>
            <a:r>
              <a:rPr sz="2000" b="0" i="0">
                <a:solidFill>
                  <a:srgbClr val="1A1A1A"/>
                </a:solidFill>
                <a:latin typeface="Calibri"/>
              </a:rPr>
              <a:t>Purpose: name and club of active players aged 13+, with club opt-out.</a:t>
            </a:r>
          </a:p>
          <a:p>
            <a:pPr algn="l">
              <a:spcBef>
                <a:spcPts val="0"/>
              </a:spcBef>
              <a:spcAft>
                <a:spcPts val="1200"/>
              </a:spcAft>
            </a:pPr>
            <a:r>
              <a:rPr sz="2000" b="0" i="0">
                <a:solidFill>
                  <a:srgbClr val="1A1A1A"/>
                </a:solidFill>
                <a:latin typeface="Calibri"/>
              </a:rPr>
              <a:t>ICO: legitimate interests APPROPRIATE.</a:t>
            </a:r>
          </a:p>
          <a:p>
            <a:pPr algn="l">
              <a:spcBef>
                <a:spcPts val="0"/>
              </a:spcBef>
              <a:spcAft>
                <a:spcPts val="1200"/>
              </a:spcAft>
            </a:pPr>
            <a:r>
              <a:rPr sz="2000" b="0" i="0">
                <a:solidFill>
                  <a:srgbClr val="1A1A1A"/>
                </a:solidFill>
                <a:latin typeface="Calibri"/>
              </a:rPr>
              <a:t>NFF is not a public authority, so public task does not fit.</a:t>
            </a:r>
          </a:p>
          <a:p>
            <a:pPr algn="l">
              <a:spcBef>
                <a:spcPts val="0"/>
              </a:spcBef>
              <a:spcAft>
                <a:spcPts val="1200"/>
              </a:spcAft>
            </a:pPr>
            <a:r>
              <a:rPr sz="2000" b="0" i="0">
                <a:solidFill>
                  <a:srgbClr val="1A1A1A"/>
                </a:solidFill>
                <a:latin typeface="Calibri"/>
              </a:rPr>
              <a:t>FIKS membership is a different purpose and was not this run.</a:t>
            </a:r>
          </a:p>
        </p:txBody>
      </p:sp>
      <p:sp>
        <p:nvSpPr>
          <p:cNvPr id="8" name="Rectangle 7"/>
          <p:cNvSpPr/>
          <p:nvPr/>
        </p:nvSpPr>
        <p:spPr>
          <a:xfrm>
            <a:off x="0" y="6656832"/>
            <a:ext cx="12191695" cy="201168"/>
          </a:xfrm>
          <a:prstGeom prst="rect">
            <a:avLst/>
          </a:prstGeom>
          <a:solidFill>
            <a:srgbClr val="2242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65760" y="6656832"/>
            <a:ext cx="9144000" cy="201168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1100" b="0" i="0">
                <a:solidFill>
                  <a:srgbClr val="FFFFFF"/>
                </a:solidFill>
                <a:latin typeface="Calibri"/>
              </a:rPr>
              <a:t>ACIT4280 Group Assignment 1A  |  3 Sep 2026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424160" y="6656832"/>
            <a:ext cx="1371600" cy="201168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r"/>
            <a:r>
              <a:rPr sz="1100" b="0" i="0">
                <a:solidFill>
                  <a:srgbClr val="FFFFFF"/>
                </a:solidFill>
                <a:latin typeface="Calibri"/>
              </a:rPr>
              <a:t>11 / 15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E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2242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51560"/>
            <a:ext cx="12191695" cy="73152"/>
          </a:xfrm>
          <a:prstGeom prst="rect">
            <a:avLst/>
          </a:prstGeom>
          <a:solidFill>
            <a:srgbClr val="FF9A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109728"/>
            <a:ext cx="11247120" cy="292608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1200" b="1" i="0">
                <a:solidFill>
                  <a:srgbClr val="44A1A4"/>
                </a:solidFill>
                <a:latin typeface="Calibri"/>
              </a:rPr>
              <a:t>Part 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384048"/>
            <a:ext cx="11247120" cy="566928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2800" b="1" i="0">
                <a:solidFill>
                  <a:srgbClr val="FFFFFF"/>
                </a:solidFill>
                <a:latin typeface="Calibri"/>
              </a:rPr>
              <a:t>document.no: Google Signals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1371600"/>
            <a:ext cx="11247120" cy="1051560"/>
          </a:xfrm>
          <a:prstGeom prst="rect">
            <a:avLst/>
          </a:prstGeom>
          <a:solidFill>
            <a:srgbClr val="FF9A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0080" y="1554480"/>
            <a:ext cx="10972800" cy="73152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2200" b="1" i="0">
                <a:solidFill>
                  <a:srgbClr val="224248"/>
                </a:solidFill>
                <a:latin typeface="Calibri"/>
              </a:rPr>
              <a:t>ICO: no basis APPROPRIATE. Consent INCONCLUSIVE. Match: Partial.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02920" y="2651760"/>
            <a:ext cx="11155680" cy="347472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1200"/>
              </a:spcAft>
            </a:pPr>
            <a:r>
              <a:rPr sz="2000" b="0" i="0">
                <a:solidFill>
                  <a:srgbClr val="1A1A1A"/>
                </a:solidFill>
                <a:latin typeface="Calibri"/>
              </a:rPr>
              <a:t>•  Purpose: advertising analytics from site activity.</a:t>
            </a:r>
          </a:p>
          <a:p>
            <a:pPr algn="l">
              <a:spcBef>
                <a:spcPts val="0"/>
              </a:spcBef>
              <a:spcAft>
                <a:spcPts val="1200"/>
              </a:spcAft>
            </a:pPr>
            <a:r>
              <a:rPr sz="2000" b="0" i="0">
                <a:solidFill>
                  <a:srgbClr val="1A1A1A"/>
                </a:solidFill>
                <a:latin typeface="Calibri"/>
              </a:rPr>
              <a:t>•  The notice does not name Article 6. It looks like consent.</a:t>
            </a:r>
          </a:p>
          <a:p>
            <a:pPr algn="l">
              <a:spcBef>
                <a:spcPts val="0"/>
              </a:spcBef>
              <a:spcAft>
                <a:spcPts val="1200"/>
              </a:spcAft>
            </a:pPr>
            <a:r>
              <a:rPr sz="2000" b="0" i="0">
                <a:solidFill>
                  <a:srgbClr val="1A1A1A"/>
                </a:solidFill>
                <a:latin typeface="Calibri"/>
              </a:rPr>
              <a:t>•  ICO: the request is not clear, prominent and separate from terms.</a:t>
            </a:r>
          </a:p>
          <a:p>
            <a:pPr algn="l">
              <a:spcBef>
                <a:spcPts val="0"/>
              </a:spcBef>
              <a:spcAft>
                <a:spcPts val="1200"/>
              </a:spcAft>
            </a:pPr>
            <a:r>
              <a:rPr sz="2000" b="0" i="0">
                <a:solidFill>
                  <a:srgbClr val="1A1A1A"/>
                </a:solidFill>
                <a:latin typeface="Calibri"/>
              </a:rPr>
              <a:t>•  The choice sits in Google settings. Pluss terms also bundle the notice.</a:t>
            </a:r>
          </a:p>
        </p:txBody>
      </p:sp>
      <p:sp>
        <p:nvSpPr>
          <p:cNvPr id="10" name="Rectangle 9"/>
          <p:cNvSpPr/>
          <p:nvPr/>
        </p:nvSpPr>
        <p:spPr>
          <a:xfrm>
            <a:off x="0" y="6656832"/>
            <a:ext cx="12191695" cy="201168"/>
          </a:xfrm>
          <a:prstGeom prst="rect">
            <a:avLst/>
          </a:prstGeom>
          <a:solidFill>
            <a:srgbClr val="2242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65760" y="6656832"/>
            <a:ext cx="9144000" cy="201168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1100" b="0" i="0">
                <a:solidFill>
                  <a:srgbClr val="FFFFFF"/>
                </a:solidFill>
                <a:latin typeface="Calibri"/>
              </a:rPr>
              <a:t>ACIT4280 Group Assignment 1A  |  3 Sep 2026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424160" y="6656832"/>
            <a:ext cx="1371600" cy="201168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r"/>
            <a:r>
              <a:rPr sz="1100" b="0" i="0">
                <a:solidFill>
                  <a:srgbClr val="FFFFFF"/>
                </a:solidFill>
                <a:latin typeface="Calibri"/>
              </a:rPr>
              <a:t>12 / 15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E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2242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51560"/>
            <a:ext cx="12191695" cy="73152"/>
          </a:xfrm>
          <a:prstGeom prst="rect">
            <a:avLst/>
          </a:prstGeom>
          <a:solidFill>
            <a:srgbClr val="FF9A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109728"/>
            <a:ext cx="11247120" cy="292608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1200" b="1" i="0">
                <a:solidFill>
                  <a:srgbClr val="44A1A4"/>
                </a:solidFill>
                <a:latin typeface="Calibri"/>
              </a:rPr>
              <a:t>Part 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384048"/>
            <a:ext cx="11247120" cy="566928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2800" b="1" i="0">
                <a:solidFill>
                  <a:srgbClr val="FFFFFF"/>
                </a:solidFill>
                <a:latin typeface="Calibri"/>
              </a:rPr>
              <a:t>babyshop.no: checkout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1371600"/>
            <a:ext cx="11155680" cy="502920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1200"/>
              </a:spcAft>
            </a:pPr>
            <a:r>
              <a:rPr sz="2000" b="0" i="0">
                <a:solidFill>
                  <a:srgbClr val="1A1A1A"/>
                </a:solidFill>
                <a:latin typeface="Calibri"/>
              </a:rPr>
              <a:t>Purpose: name, address, contact, order and payment to deliver goods.</a:t>
            </a:r>
          </a:p>
          <a:p>
            <a:pPr algn="l">
              <a:spcBef>
                <a:spcPts val="0"/>
              </a:spcBef>
              <a:spcAft>
                <a:spcPts val="1200"/>
              </a:spcAft>
            </a:pPr>
            <a:r>
              <a:rPr sz="2000" b="0" i="0">
                <a:solidFill>
                  <a:srgbClr val="1A1A1A"/>
                </a:solidFill>
                <a:latin typeface="Calibri"/>
              </a:rPr>
              <a:t>The sales terms are a purchase contract.</a:t>
            </a:r>
          </a:p>
          <a:p>
            <a:pPr algn="l">
              <a:spcBef>
                <a:spcPts val="0"/>
              </a:spcBef>
              <a:spcAft>
                <a:spcPts val="1200"/>
              </a:spcAft>
            </a:pPr>
            <a:r>
              <a:rPr sz="2000" b="0" i="0">
                <a:solidFill>
                  <a:srgbClr val="1A1A1A"/>
                </a:solidFill>
                <a:latin typeface="Calibri"/>
              </a:rPr>
              <a:t>ICO: contract APPROPRIATE. Match: Yes for checkout.</a:t>
            </a:r>
          </a:p>
          <a:p>
            <a:pPr algn="l">
              <a:spcBef>
                <a:spcPts val="0"/>
              </a:spcBef>
              <a:spcAft>
                <a:spcPts val="1200"/>
              </a:spcAft>
            </a:pPr>
            <a:r>
              <a:rPr sz="2000" b="0" i="0">
                <a:solidFill>
                  <a:srgbClr val="1A1A1A"/>
                </a:solidFill>
                <a:latin typeface="Calibri"/>
              </a:rPr>
              <a:t>The notice does not label Article 6(1)(b). Marketing is a separate purpose.</a:t>
            </a:r>
          </a:p>
        </p:txBody>
      </p:sp>
      <p:sp>
        <p:nvSpPr>
          <p:cNvPr id="8" name="Rectangle 7"/>
          <p:cNvSpPr/>
          <p:nvPr/>
        </p:nvSpPr>
        <p:spPr>
          <a:xfrm>
            <a:off x="0" y="6656832"/>
            <a:ext cx="12191695" cy="201168"/>
          </a:xfrm>
          <a:prstGeom prst="rect">
            <a:avLst/>
          </a:prstGeom>
          <a:solidFill>
            <a:srgbClr val="2242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65760" y="6656832"/>
            <a:ext cx="9144000" cy="201168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1100" b="0" i="0">
                <a:solidFill>
                  <a:srgbClr val="FFFFFF"/>
                </a:solidFill>
                <a:latin typeface="Calibri"/>
              </a:rPr>
              <a:t>ACIT4280 Group Assignment 1A  |  3 Sep 2026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424160" y="6656832"/>
            <a:ext cx="1371600" cy="201168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r"/>
            <a:r>
              <a:rPr sz="1100" b="0" i="0">
                <a:solidFill>
                  <a:srgbClr val="FFFFFF"/>
                </a:solidFill>
                <a:latin typeface="Calibri"/>
              </a:rPr>
              <a:t>13 / 15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E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2242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51560"/>
            <a:ext cx="12191695" cy="73152"/>
          </a:xfrm>
          <a:prstGeom prst="rect">
            <a:avLst/>
          </a:prstGeom>
          <a:solidFill>
            <a:srgbClr val="FF9A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109728"/>
            <a:ext cx="11247120" cy="292608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1200" b="1" i="0">
                <a:solidFill>
                  <a:srgbClr val="44A1A4"/>
                </a:solidFill>
                <a:latin typeface="Calibri"/>
              </a:rPr>
              <a:t>Close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384048"/>
            <a:ext cx="11247120" cy="566928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2800" b="1" i="0">
                <a:solidFill>
                  <a:srgbClr val="FFFFFF"/>
                </a:solidFill>
                <a:latin typeface="Calibri"/>
              </a:rPr>
              <a:t>What the report shows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1417320"/>
            <a:ext cx="11247120" cy="4434840"/>
          </a:xfrm>
          <a:prstGeom prst="rect">
            <a:avLst/>
          </a:prstGeom>
          <a:solidFill>
            <a:srgbClr val="44A1A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85800" y="1691640"/>
            <a:ext cx="10789920" cy="3977639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1600"/>
              </a:spcAft>
            </a:pPr>
            <a:r>
              <a:rPr sz="2200" b="0" i="0">
                <a:solidFill>
                  <a:srgbClr val="224248"/>
                </a:solidFill>
                <a:latin typeface="Calibri"/>
              </a:rPr>
              <a:t>We measured how much 18 sites contact others on load, and we checked whether five of them have a valid GDPR basis for one specific purpose.</a:t>
            </a:r>
          </a:p>
          <a:p>
            <a:pPr algn="l">
              <a:spcBef>
                <a:spcPts val="0"/>
              </a:spcBef>
              <a:spcAft>
                <a:spcPts val="1600"/>
              </a:spcAft>
            </a:pPr>
            <a:r>
              <a:rPr sz="2200" b="0" i="0">
                <a:solidFill>
                  <a:srgbClr val="224248"/>
                </a:solidFill>
                <a:latin typeface="Calibri"/>
              </a:rPr>
              <a:t>Many sites reach out to many others without setting cookies.</a:t>
            </a:r>
          </a:p>
          <a:p>
            <a:pPr algn="l">
              <a:spcBef>
                <a:spcPts val="0"/>
              </a:spcBef>
              <a:spcAft>
                <a:spcPts val="1600"/>
              </a:spcAft>
            </a:pPr>
            <a:r>
              <a:rPr sz="2200" b="0" i="0">
                <a:solidFill>
                  <a:srgbClr val="224248"/>
                </a:solidFill>
                <a:latin typeface="Calibri"/>
              </a:rPr>
              <a:t>Four of five ICO purposes match the notice.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200" b="0" i="0">
                <a:solidFill>
                  <a:srgbClr val="FF9A00"/>
                </a:solidFill>
                <a:latin typeface="Calibri"/>
              </a:rPr>
              <a:t>In two places where the site claims consent, the ICO is not satisfied with how consent is formulated.</a:t>
            </a:r>
          </a:p>
        </p:txBody>
      </p:sp>
      <p:sp>
        <p:nvSpPr>
          <p:cNvPr id="9" name="Rectangle 8"/>
          <p:cNvSpPr/>
          <p:nvPr/>
        </p:nvSpPr>
        <p:spPr>
          <a:xfrm>
            <a:off x="0" y="6656832"/>
            <a:ext cx="12191695" cy="201168"/>
          </a:xfrm>
          <a:prstGeom prst="rect">
            <a:avLst/>
          </a:prstGeom>
          <a:solidFill>
            <a:srgbClr val="2242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65760" y="6656832"/>
            <a:ext cx="9144000" cy="201168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1100" b="0" i="0">
                <a:solidFill>
                  <a:srgbClr val="FFFFFF"/>
                </a:solidFill>
                <a:latin typeface="Calibri"/>
              </a:rPr>
              <a:t>ACIT4280 Group Assignment 1A  |  3 Sep 2026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424160" y="6656832"/>
            <a:ext cx="1371600" cy="201168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r"/>
            <a:r>
              <a:rPr sz="1100" b="0" i="0">
                <a:solidFill>
                  <a:srgbClr val="FFFFFF"/>
                </a:solidFill>
                <a:latin typeface="Calibri"/>
              </a:rPr>
              <a:t>14 / 15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2242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2194560"/>
            <a:ext cx="10972800" cy="109728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ctr"/>
            <a:r>
              <a:rPr sz="4800" b="1" i="0">
                <a:solidFill>
                  <a:srgbClr val="FFFFFF"/>
                </a:solidFill>
                <a:latin typeface="Calibri"/>
              </a:rPr>
              <a:t>Questions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3474720"/>
            <a:ext cx="10972800" cy="128016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ctr"/>
            <a:r>
              <a:rPr sz="2000" b="0" i="0">
                <a:solidFill>
                  <a:srgbClr val="44A1A4"/>
                </a:solidFill>
                <a:latin typeface="Calibri"/>
              </a:rPr>
              <a:t>ACIT4280 Privacy by Design  ·  Group Assignment 1A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