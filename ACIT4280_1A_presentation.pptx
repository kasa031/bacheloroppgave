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 measures contact. Part 2 tests one purpose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Contact and lawful basis are different questions. A high request count is not a finding of unlawful processing.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records what one load contacted. It does not read the notice or decide Article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counts contact on one load. Cookies and requests are separate measures.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has 113 requests and zero third-party cookies. document.no has the widest country list (6).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113. lanekassen.no 1. The pie is request share, not cookies.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ranking stays on Table 2. The screenshot is the later visit.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Table 5 row is one purpose from Table 1a.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Partial means the notice aims at consent, but ICO marks consent INCONCLUSIVE and no basis APPROPRIATE.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Partial is not a court finding. It means the consent wording did not pass the ICO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purposes in the notice, two ICO runs. Figure 7 in the report is the hub that splits those pages.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split as elsewhere: one purpose, one basis.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also has the highest Webbkoll request count. That does not decide Article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Contract and legitimate interests do not fit this advertising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pattern as Netflix: contract for the core service.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 is contact. Part 2 is one purpose and one basis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44A1A4"/>
                </a:solidFill>
                <a:latin typeface="Calibri"/>
              </a:rPr>
              <a:t>ACIT4280 Privacy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72800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400" b="1" i="0">
                <a:solidFill>
                  <a:srgbClr val="44A1A4"/>
                </a:solidFill>
                <a:latin typeface="Calibri"/>
              </a:rPr>
              <a:t>Group Assignment 1A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691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Analysis of 3rd-party Data Sharing
and Data Tracking and of GDPR
Compliance of Norwegian Web Sites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10128"/>
            <a:ext cx="10972800" cy="1417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•  When a front page loads, how many third parties does it contact, and in which countries do those servers appear to be located?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•  When a site processes personal data, has it named a GDPR Article 6 lawful basis, and does the ICO tool agree?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61772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Humna Akhtar  ·  Mithun Chandra Debnath  ·  Karina Sætersdal Nilssen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7784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0" i="0">
                <a:solidFill>
                  <a:srgbClr val="224248"/>
                </a:solidFill>
                <a:latin typeface="Calibri"/>
              </a:rPr>
              <a:t>Oslo Metropolitan University
3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The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Two questions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224248"/>
                </a:solidFill>
                <a:latin typeface="Calibri"/>
              </a:rPr>
              <a:t>Part 1  ·  Webbkoll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4937760" cy="3657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18 sites in four sectors (Table 1)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Cookies, third-party requests, KeyCDN countries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Rank Table 2 requests, not cookies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1A1A1A"/>
                </a:solidFill>
                <a:latin typeface="Calibri"/>
              </a:rPr>
              <a:t>•  Figures 2 to 4: counts, share, sectors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FF9A00"/>
                </a:solidFill>
                <a:latin typeface="Calibri"/>
              </a:rPr>
              <a:t>Part 2  ·  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103120"/>
            <a:ext cx="4937760" cy="3657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•  Five sites from Table 1a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•  One purpose per ICO run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•  Notice versus ICO Word report (26 Aug 2026)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•  Yes if notice and ICO agree; Partial if consent is INCONCLUSIVE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How we measured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English Webbkoll. One load per visit. No add-ons. Do Not Track off.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Table 2 (20 Aug 2026) is the ranking. Table 3 is a later check, not averaged.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KeyCDN country is a geolocation guess from the IP, not a legal transfer register.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Requests are not cookies. 17 of 18 sites had zero external cookies. ikea.no had 2.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we looked at and key findings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224248"/>
                </a:solidFill>
                <a:latin typeface="Calibri"/>
              </a:rPr>
              <a:t>What we looked 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4937760" cy="3657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Cookies (small files on the device)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Third-party requests (calls to other companies, such as ads and fonts)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A1A1A"/>
                </a:solidFill>
                <a:latin typeface="Calibri"/>
              </a:rPr>
              <a:t>•  Countries (KeyCDN geolocation guess from the IP, not a legal transfer register)</a:t>
            </a:r>
          </a:p>
          <a:p>
            <a:pPr algn="l">
              <a:spcBef>
                <a:spcPts val="800"/>
              </a:spcBef>
              <a:spcAft>
                <a:spcPts val="600"/>
              </a:spcAft>
            </a:pPr>
            <a:r>
              <a:rPr sz="1800" b="1" i="0">
                <a:solidFill>
                  <a:srgbClr val="FF9A00"/>
                </a:solidFill>
                <a:latin typeface="Calibri"/>
              </a:rPr>
              <a:t>Many requests does not mean many cookies.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44A1A4"/>
                </a:solidFill>
                <a:latin typeface="Calibri"/>
              </a:rPr>
              <a:t>Key findings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103120"/>
            <a:ext cx="4937760" cy="3657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fotball.no: 113 requests, zero third-party cookies.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17 of 18 sites: zero third-party cookies. ikea.no had 2.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lanekassen.no (1) and altinn.no (5): quietest e-government pages.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document.no: widest country list (6 excluding Norway).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News/media contacted the most. Government the fewest.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babyshop.no: 101 on Table 3; ranking stays on Table 2 (45).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  ·  Table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Highest and lowest third-party requests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224248"/>
                </a:solidFill>
                <a:latin typeface="Calibri"/>
              </a:rPr>
              <a:t>Highest five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325E6A"/>
                </a:solidFill>
                <a:latin typeface="Calibri"/>
              </a:rPr>
              <a:t>Lowest five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2763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1  fotball.no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7510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113 requests  ·  5 countries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2763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68249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1  lanekassen.no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97510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Government  ·  1 request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45059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50545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2  worldofwarcraft.com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79806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90  ·  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45059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50545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2  altinn.no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79806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Government  ·  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27355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3  document.no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62102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51  ·  6 (widest list)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27355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332841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3  nrk.no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62102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News/media  ·  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09651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15137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4  aftenposten.no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44398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48  ·  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409651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415137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4  spotify.no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44398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News/media  ·  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91947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97433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5  klassekampen.no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26694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46  ·  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491947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0" y="497433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5  skiforeningen.no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526694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Sport  ·  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263640"/>
            <a:ext cx="11247120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Ranked on Table 2 requests. lanekassen.no and altinn.no have the fewest government requests. babyshop.no is 101 on Table 3; rankings stay on Table 2.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  ·  Figures 2 to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Third-party requests by site and sector</a:t>
            </a:r>
          </a:p>
        </p:txBody>
      </p:sp>
      <p:pic>
        <p:nvPicPr>
          <p:cNvPr id="7" name="Picture 6" descr="fig3_requests_all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07008"/>
            <a:ext cx="5943600" cy="4709160"/>
          </a:xfrm>
          <a:prstGeom prst="rect">
            <a:avLst/>
          </a:prstGeom>
        </p:spPr>
      </p:pic>
      <p:pic>
        <p:nvPicPr>
          <p:cNvPr id="8" name="Picture 7" descr="fig5_share_requests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207008"/>
            <a:ext cx="5486400" cy="2286000"/>
          </a:xfrm>
          <a:prstGeom prst="rect">
            <a:avLst/>
          </a:prstGeom>
        </p:spPr>
      </p:pic>
      <p:pic>
        <p:nvPicPr>
          <p:cNvPr id="9" name="Picture 8" descr="fig6_requests_per_sec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3566160"/>
            <a:ext cx="5486400" cy="2331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6263640"/>
            <a:ext cx="11430000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Table 2. News/media is the highest sector. Government is the lowest. Sport is high because of fotball.no.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  ·  one 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klassekampen.no: 46 in Table 2, 56 on the screenshot</a:t>
            </a:r>
          </a:p>
        </p:txBody>
      </p:sp>
      <p:pic>
        <p:nvPicPr>
          <p:cNvPr id="7" name="Picture 6" descr="fig2_webbkoll_results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07008"/>
            <a:ext cx="11430000" cy="2148840"/>
          </a:xfrm>
          <a:prstGeom prst="rect">
            <a:avLst/>
          </a:prstGeom>
        </p:spPr>
      </p:pic>
      <p:pic>
        <p:nvPicPr>
          <p:cNvPr id="8" name="Picture 7" descr="fig4_keycdn_lookup_klassekamp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4560" y="3456432"/>
            <a:ext cx="7772400" cy="2606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612648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Table 2: 46 requests, 0 third-party cookies. Screenshot = Table 3 (56 requests to 13 hosts). Server: United States, Google.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ICO: one purpose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Official ICO Word reports dated 26 August 2026. The labels are guidance, not a court finding.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One purpose per run. Compare what the notice claims with what ICO marks.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Yes: notice and ICO line up for that purpose. Partial: the notice aims at consent; ICO marks INCONCLUSIVE.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Tax, cookies, checkout and marketing are different purposes.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  ·  Table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 result versus the notice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2560320" cy="62179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144475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6080" y="1280160"/>
            <a:ext cx="3108960" cy="62179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99232" y="144475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Purpose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280160"/>
            <a:ext cx="4389120" cy="62179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08192" y="144475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ICO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424160" y="1280160"/>
            <a:ext cx="1371600" cy="62179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97312" y="1444752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Match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901952"/>
            <a:ext cx="25603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2066544"/>
            <a:ext cx="24505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26080" y="1901952"/>
            <a:ext cx="310896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99232" y="2066544"/>
            <a:ext cx="299923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Tax / folkeregister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1901952"/>
            <a:ext cx="43891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08192" y="2066544"/>
            <a:ext cx="42793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Legal obligation + public task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424160" y="1901952"/>
            <a:ext cx="137160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497312" y="2066544"/>
            <a:ext cx="126187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523744"/>
            <a:ext cx="256032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2688336"/>
            <a:ext cx="24505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80" y="2523744"/>
            <a:ext cx="310896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99232" y="2688336"/>
            <a:ext cx="299923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Optional cookies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2523744"/>
            <a:ext cx="438912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08192" y="2688336"/>
            <a:ext cx="42793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424160" y="2523744"/>
            <a:ext cx="137160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497312" y="2688336"/>
            <a:ext cx="126187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FF9A00"/>
                </a:solidFill>
                <a:latin typeface="Calibri"/>
              </a:rPr>
              <a:t>Partial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145536"/>
            <a:ext cx="25603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" y="3310128"/>
            <a:ext cx="24505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netflix.no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26080" y="3145536"/>
            <a:ext cx="310896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99232" y="3310128"/>
            <a:ext cx="299923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Paid streaming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35040" y="3145536"/>
            <a:ext cx="438912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08192" y="3310128"/>
            <a:ext cx="42793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424160" y="3145536"/>
            <a:ext cx="1371600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497312" y="3310128"/>
            <a:ext cx="126187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3767328"/>
            <a:ext cx="256032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8912" y="3931920"/>
            <a:ext cx="24505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fotball.no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926080" y="3767328"/>
            <a:ext cx="310896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99232" y="3931920"/>
            <a:ext cx="299923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Name + club, 13+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35040" y="3767328"/>
            <a:ext cx="438912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08192" y="3931920"/>
            <a:ext cx="42793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Legitimate interests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424160" y="3767328"/>
            <a:ext cx="137160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497312" y="3931920"/>
            <a:ext cx="126187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4389120"/>
            <a:ext cx="256032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8912" y="4553712"/>
            <a:ext cx="24505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document.no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926080" y="4389120"/>
            <a:ext cx="310896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999232" y="4553712"/>
            <a:ext cx="299923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Google Signals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35040" y="4389120"/>
            <a:ext cx="438912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08192" y="4553712"/>
            <a:ext cx="42793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424160" y="4389120"/>
            <a:ext cx="1371600" cy="62179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497312" y="4553712"/>
            <a:ext cx="126187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FF9A00"/>
                </a:solidFill>
                <a:latin typeface="Calibri"/>
              </a:rPr>
              <a:t>Partial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5010912"/>
            <a:ext cx="256032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38912" y="5175504"/>
            <a:ext cx="24505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babyshop.no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26080" y="5010912"/>
            <a:ext cx="310896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999232" y="5175504"/>
            <a:ext cx="299923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Checkout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35040" y="5010912"/>
            <a:ext cx="438912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108192" y="5175504"/>
            <a:ext cx="427939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424160" y="5010912"/>
            <a:ext cx="1371600" cy="62179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497312" y="5175504"/>
            <a:ext cx="1261872" cy="411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614476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0" i="0">
                <a:solidFill>
                  <a:srgbClr val="4A5568"/>
                </a:solidFill>
                <a:latin typeface="Calibri"/>
              </a:rPr>
              <a:t>ICO labels are guidance. Partial: the notice aims at consent; ICO does not mark consent APPROPRIATE.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  ·  Table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Four match, two consent tests Partial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443484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397763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24248"/>
                </a:solidFill>
                <a:latin typeface="Calibri"/>
              </a:rPr>
              <a:t>Four core purposes match the notice: tax, paid streaming, match history, checkout.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FF9A00"/>
                </a:solidFill>
                <a:latin typeface="Calibri"/>
              </a:rPr>
              <a:t>Two consent tests are Partial: Skatteetaten optional cookies and document.no Google Signals.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224248"/>
                </a:solidFill>
                <a:latin typeface="Calibri"/>
              </a:rPr>
              <a:t>In both cases the notice claims consent, but the ICO marks consent INCONCLUSIVE.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24248"/>
                </a:solidFill>
                <a:latin typeface="Calibri"/>
              </a:rPr>
              <a:t>Skatteetaten does not spell out clearly enough who processes the optional cookies and how to refuse them. document.no points users to Google ad settings; the ICO says that is not a clear, separate consent request, and Pluss terms bundle the notice.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skatteetaten.no: two purposes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Tax and registry data: the law requires it. Opt-out is generally not possible.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legal obligation and public task APPROPRIATE. Consent NOT APPROPRIATE. Match: Yes.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Optional statistics cookies: the notice claims consent.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consent INCONCLUSIVE; no basis APPROPRIATE. Match: Partial.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netflix.no: paid streaming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account and payment data needed to provide the paid service.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Notice (EEA/UK): contractual necessity.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contract APPROPRIATE. Consent marked likely invalid for this purpose.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Ads and marketing in the same notice were left 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fotball.no: match history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name and club of active players aged 13+, with club opt-out.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legitimate interests APPROPRIATE.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NFF is not a public authority, so public task does not fit.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FIKS membership is a different purpose and was not this run.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document.no: Google Signals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1247120" cy="105156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224248"/>
                </a:solidFill>
                <a:latin typeface="Calibri"/>
              </a:rPr>
              <a:t>ICO: no basis APPROPRIATE. Consent INCONCLUSIVE. Match: Partial.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651760"/>
            <a:ext cx="11155680" cy="34747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Purpose: advertising analytics from site activity.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The notice does not name Article 6. It looks like consent.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ICO: the request is not clear, prominent and separate from terms.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The choice sits in Google settings. Pluss terms also bundle the notice.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babyshop.no: checkout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name, address, contact, order and payment to deliver goods.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The sales terms are a purchase contract.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contract APPROPRIATE. Match: Yes for checkout.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The notice does not label Article 6(1)(b). Marketing is a separate purpose.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the report shows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443484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397763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224248"/>
                </a:solidFill>
                <a:latin typeface="Calibri"/>
              </a:rPr>
              <a:t>We measured how much 18 sites contact others on load, and we checked whether five of them have a valid GDPR basis for one specific purpose.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224248"/>
                </a:solidFill>
                <a:latin typeface="Calibri"/>
              </a:rPr>
              <a:t>Many sites reach out to many others without setting cookies.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224248"/>
                </a:solidFill>
                <a:latin typeface="Calibri"/>
              </a:rPr>
              <a:t>Four of five ICO purposes match the notice.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FF9A00"/>
                </a:solidFill>
                <a:latin typeface="Calibri"/>
              </a:rPr>
              <a:t>In two places where the site claims consent, the ICO is not satisfied with how consent is formulated.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2000" b="0" i="0">
                <a:solidFill>
                  <a:srgbClr val="44A1A4"/>
                </a:solidFill>
                <a:latin typeface="Calibri"/>
              </a:rPr>
              <a:t>ACIT4280 Privacy by Design  ·  Group Assignment 1A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