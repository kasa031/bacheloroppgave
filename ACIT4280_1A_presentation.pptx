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1 measures contact. Part 2 tests one purpose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Webbkoll records one load. ICO tests one purpose at a time. Contact and lawful basis are different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Webbkoll counts contact on one load. Cookies and requests are separate measures.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has 113 requests and zero third-party cookies. document.no has the widest country list (6).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113. lanekassen.no 1. The pie is request share, not cookies.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row is one purpose from Table 1a. Partial means consent INCONCLUSIVE.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Partial is not a court finding. It means the consent wording did not pass the ICO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purposes in the notice, two ICO runs. Figure 7 in the report splits the privacy notice from the cookie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purpose, one basis. Ads and marketing in the same notice were left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fotball.no has the highest Webbkoll request count. Contact and lawful basis are separate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Contract and legitimate interests do not fit this advertising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pattern as Netflix: contract for the core transaction.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 1 is contact. Part 2 is one purpose and one basis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44A1A4"/>
                </a:solidFill>
                <a:latin typeface="Calibri"/>
              </a:rPr>
              <a:t>ACIT4280 Privacy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15568"/>
            <a:ext cx="10972800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400" b="1" i="0">
                <a:solidFill>
                  <a:srgbClr val="44A1A4"/>
                </a:solidFill>
                <a:latin typeface="Calibri"/>
              </a:rPr>
              <a:t>Group Assignment 1A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6916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Analysis of 3rd-party Data Sharing
and Data Tracking and of GDPR
Compliance of Norwegian Web Sites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10128"/>
            <a:ext cx="10972800" cy="1417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•  When a front page loads, how many third parties does it contact, and in which countries do those servers appear to be located?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•  When a site processes personal data, has it named a GDPR Article 6 lawful basis, and does the ICO tool agree?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61772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Humna Akhtar  ·  Mithun Chandra Debnath  ·  Karina Sætersdal Nilssen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5216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600" b="0" i="0">
                <a:solidFill>
                  <a:srgbClr val="224248"/>
                </a:solidFill>
                <a:latin typeface="Calibri"/>
              </a:rPr>
              <a:t>3 September 2026</a:t>
            </a:r>
          </a:p>
        </p:txBody>
      </p:sp>
      <p:pic>
        <p:nvPicPr>
          <p:cNvPr id="10" name="Picture 9" descr="oslome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4135" y="5852160"/>
            <a:ext cx="2834640" cy="5029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The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Two questions and how we measured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8308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224248"/>
                </a:solidFill>
                <a:latin typeface="Calibri"/>
              </a:rPr>
              <a:t>Part 1  ·  Webbkoll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21408"/>
            <a:ext cx="4937760" cy="6217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18 sites: cookies, requests, KeyCDN country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One clean load per site; rank on Table 2 (20 Aug)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•  KeyCDN = IP geolocation guess, not legal transfer proof</a:t>
            </a:r>
          </a:p>
        </p:txBody>
      </p:sp>
      <p:pic>
        <p:nvPicPr>
          <p:cNvPr id="10" name="Picture 9" descr="fig2_webbkoll_results_klassekam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788920"/>
            <a:ext cx="4937760" cy="128016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572768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FF9A00"/>
                </a:solidFill>
                <a:latin typeface="Calibri"/>
              </a:rPr>
              <a:t>Part 2  ·  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1901952"/>
            <a:ext cx="4937760" cy="8412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•  Five sites, one purpose per run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•  Notice vs ICO Word report (26 Aug 2026)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•  Yes if notice and ICO agree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•  Partial if consent is INCONCLUSIVE</a:t>
            </a:r>
          </a:p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•  Tax, cookies, checkout and marketing are different purposes</a:t>
            </a:r>
          </a:p>
        </p:txBody>
      </p:sp>
      <p:pic>
        <p:nvPicPr>
          <p:cNvPr id="14" name="Picture 13" descr="ico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2788920"/>
            <a:ext cx="4937760" cy="128016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Webbkoll shows and key findings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94960" cy="457200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00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224248"/>
                </a:solidFill>
                <a:latin typeface="Calibri"/>
              </a:rPr>
              <a:t>What Webbkoll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11680"/>
            <a:ext cx="4937760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Cookies, third-party requests and server country.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9A00"/>
                </a:solidFill>
                <a:latin typeface="Calibri"/>
              </a:rPr>
              <a:t>Many requests does not mean many cookies.</a:t>
            </a:r>
          </a:p>
        </p:txBody>
      </p:sp>
      <p:pic>
        <p:nvPicPr>
          <p:cNvPr id="10" name="Picture 9" descr="fig4_keycdn_lookup_klassekam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788920"/>
            <a:ext cx="4937760" cy="214884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309360" y="1417320"/>
            <a:ext cx="5394960" cy="4572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600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200" b="1" i="0">
                <a:solidFill>
                  <a:srgbClr val="44A1A4"/>
                </a:solidFill>
                <a:latin typeface="Calibri"/>
              </a:rPr>
              <a:t>Key findings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103120"/>
            <a:ext cx="4937760" cy="3657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fotball.no: 113 requests, zero third-party cookies.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17 of 18 sites: zero third-party cookies. ikea.no had 2.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lanekassen.no (1) and altinn.no (5): quietest e-government pages.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document.no: widest country list (6 excluding Norway).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News/media contacted the most. Government the fewest.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•  babyshop.no: 45 on first scan, 101 on repeat scan.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  ·  Table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Highest and lowest third-party requests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224248"/>
                </a:solidFill>
                <a:latin typeface="Calibri"/>
              </a:rPr>
              <a:t>Highest five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800" b="1" i="0">
                <a:solidFill>
                  <a:srgbClr val="325E6A"/>
                </a:solidFill>
                <a:latin typeface="Calibri"/>
              </a:rPr>
              <a:t>Lowest five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2763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1  fotball.no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7510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Sport  ·  113 requests  ·  5 countries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62763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68249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1  lanekassen.no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97510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Government  ·  1 request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45059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50545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2  worldofwarcraft.com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79806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90  ·  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245059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50545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2  altinn.no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79806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Government  ·  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27355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32841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3  document.no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62102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51  ·  6 (widest list)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27355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332841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3  nrk.no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62102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News/media  ·  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09651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415137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4  aftenposten.no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44398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48  ·  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409651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415137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4  spotify.no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444398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News/media  ·  10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919472"/>
            <a:ext cx="5394960" cy="74980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4974336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224248"/>
                </a:solidFill>
                <a:latin typeface="Calibri"/>
              </a:rPr>
              <a:t>5  klassekampen.no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266944"/>
            <a:ext cx="502920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  <a:latin typeface="Calibri"/>
              </a:rPr>
              <a:t>News/media  ·  46  ·  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4919472"/>
            <a:ext cx="5303520" cy="749808"/>
          </a:xfrm>
          <a:prstGeom prst="rect">
            <a:avLst/>
          </a:prstGeom>
          <a:solidFill>
            <a:srgbClr val="325E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0" y="497433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5  skiforeningen.no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526694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Sport  ·  14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1  ·  Figures 2 to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Third-party requests by site and sector</a:t>
            </a:r>
          </a:p>
        </p:txBody>
      </p:sp>
      <p:pic>
        <p:nvPicPr>
          <p:cNvPr id="7" name="Picture 6" descr="fig3_requests_all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07008"/>
            <a:ext cx="5943600" cy="4709160"/>
          </a:xfrm>
          <a:prstGeom prst="rect">
            <a:avLst/>
          </a:prstGeom>
        </p:spPr>
      </p:pic>
      <p:pic>
        <p:nvPicPr>
          <p:cNvPr id="8" name="Picture 7" descr="fig5_share_requests_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207008"/>
            <a:ext cx="5486400" cy="2286000"/>
          </a:xfrm>
          <a:prstGeom prst="rect">
            <a:avLst/>
          </a:prstGeom>
        </p:spPr>
      </p:pic>
      <p:pic>
        <p:nvPicPr>
          <p:cNvPr id="9" name="Picture 8" descr="fig6_requests_per_sec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3566160"/>
            <a:ext cx="5486400" cy="2331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6263640"/>
            <a:ext cx="11430000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  <a:latin typeface="Calibri"/>
              </a:rPr>
              <a:t>News/media is the highest sector. Government is the lowest.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ICO: one purpose at a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6187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One purpose per ICO run (26 Aug 2026). Yes if notice and ICO agree; Partial if consent is INCONCLUSIVE.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A1A1A"/>
                </a:solidFill>
                <a:latin typeface="Calibri"/>
              </a:rPr>
              <a:t>Tax, cookies, checkout and marketing are different purposes.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38528"/>
            <a:ext cx="2560320" cy="53035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2066544"/>
            <a:ext cx="246888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Service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26080" y="1938528"/>
            <a:ext cx="3108960" cy="53035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99232" y="2066544"/>
            <a:ext cx="301752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Purpose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0" y="1938528"/>
            <a:ext cx="4389120" cy="53035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08192" y="2066544"/>
            <a:ext cx="429768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ICO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424160" y="1938528"/>
            <a:ext cx="1371600" cy="530352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97312" y="2066544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Match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468880"/>
            <a:ext cx="25603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" y="2596896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2468880"/>
            <a:ext cx="310896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99232" y="2596896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Tax / folkeregister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5040" y="2468880"/>
            <a:ext cx="43891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08192" y="2596896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Legal obligation + public task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424160" y="2468880"/>
            <a:ext cx="137160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97312" y="2596896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999232"/>
            <a:ext cx="256032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8912" y="3127248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skatteetaten.no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26080" y="2999232"/>
            <a:ext cx="310896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99232" y="3127248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Optional cookies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2999232"/>
            <a:ext cx="438912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08192" y="3127248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Consent INCONCLUSIVE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424160" y="2999232"/>
            <a:ext cx="137160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497312" y="3127248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9A00"/>
                </a:solidFill>
                <a:latin typeface="Calibri"/>
              </a:rPr>
              <a:t>Partial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529584"/>
            <a:ext cx="25603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3657600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netflix.no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926080" y="3529584"/>
            <a:ext cx="310896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99232" y="3657600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Paid streaming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35040" y="3529584"/>
            <a:ext cx="438912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08192" y="3657600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424160" y="3529584"/>
            <a:ext cx="137160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97312" y="3657600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4059936"/>
            <a:ext cx="256032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8912" y="4187952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fotball.no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26080" y="4059936"/>
            <a:ext cx="310896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99232" y="4187952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Name + club, 13+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35040" y="4059936"/>
            <a:ext cx="438912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08192" y="4187952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Legitimate interests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424160" y="4059936"/>
            <a:ext cx="137160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497312" y="4187952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4590288"/>
            <a:ext cx="256032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8912" y="4718304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document.no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926080" y="4590288"/>
            <a:ext cx="310896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999232" y="4718304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Google Signals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35040" y="4590288"/>
            <a:ext cx="438912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108192" y="4718304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Consent INCONCLUSIVE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424160" y="4590288"/>
            <a:ext cx="1371600" cy="530352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497312" y="4718304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FF9A00"/>
                </a:solidFill>
                <a:latin typeface="Calibri"/>
              </a:rPr>
              <a:t>Partial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5120640"/>
            <a:ext cx="256032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38912" y="5248656"/>
            <a:ext cx="24505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babyshop.no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926080" y="5120640"/>
            <a:ext cx="310896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999232" y="5248656"/>
            <a:ext cx="299923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Checkout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35040" y="5120640"/>
            <a:ext cx="438912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108192" y="5248656"/>
            <a:ext cx="427939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Contract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424160" y="5120640"/>
            <a:ext cx="1371600" cy="530352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497312" y="5248656"/>
            <a:ext cx="1261872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224248"/>
                </a:solidFill>
                <a:latin typeface="Calibri"/>
              </a:rPr>
              <a:t>Yes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  ·  Table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Four match, two consent tests Partial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443484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789920" cy="397763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224248"/>
                </a:solidFill>
                <a:latin typeface="Calibri"/>
              </a:rPr>
              <a:t>Four core purposes match the notice: tax, paid streaming, match history, checkout.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000" b="1" i="0">
                <a:solidFill>
                  <a:srgbClr val="FF9A00"/>
                </a:solidFill>
                <a:latin typeface="Calibri"/>
              </a:rPr>
              <a:t>Two consent tests are Partial: Skatteetaten optional cookies and document.no Google Signals.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224248"/>
                </a:solidFill>
                <a:latin typeface="Calibri"/>
              </a:rPr>
              <a:t>In both cases the notice claims consent, but the ICO marks consent INCONCLUSIVE.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i="0">
                <a:solidFill>
                  <a:srgbClr val="224248"/>
                </a:solidFill>
                <a:latin typeface="Calibri"/>
              </a:rPr>
              <a:t>Skatteetaten does not spell out clearly enough who processes the optional cookies and how to refuse them. document.no points users to Google ad settings; the ICO says that is not a clear, separate consent request, and Pluss terms bundle the notice.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skatteetaten.no: two purposes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98448"/>
            <a:ext cx="2148840" cy="52303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skatteetaten_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691640"/>
            <a:ext cx="1554480" cy="1554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3429000"/>
            <a:ext cx="20574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300" b="1" i="0">
                <a:solidFill>
                  <a:srgbClr val="325E6A"/>
                </a:solidFill>
                <a:latin typeface="Calibri"/>
              </a:rPr>
              <a:t>Government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1298448"/>
            <a:ext cx="8942832" cy="248716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44952" y="1444752"/>
            <a:ext cx="8485632" cy="22311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Purpose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224248"/>
                </a:solidFill>
                <a:latin typeface="Calibri"/>
              </a:rPr>
              <a:t>Tax and National Population Register data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Notice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The law requires this processing. Opt-out is generally not possible.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ICO result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Legal obligation and public task APPROPRIATE. Consent NOT APPROPRIATE.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24248"/>
                </a:solidFill>
                <a:latin typeface="Calibri"/>
              </a:rPr>
              <a:t>Match: Yes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88920" y="4041648"/>
            <a:ext cx="8942832" cy="24871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88920" y="4041648"/>
            <a:ext cx="109728" cy="2487168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44952" y="4187952"/>
            <a:ext cx="8485632" cy="22311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Purpose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224248"/>
                </a:solidFill>
                <a:latin typeface="Calibri"/>
              </a:rPr>
              <a:t>Optional statistics cookies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Notice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Skyra, Matomo, Google Analytics and Siteimprove. The notice claims consent.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ICO result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1A1A1A"/>
                </a:solidFill>
                <a:latin typeface="Calibri"/>
              </a:rPr>
              <a:t>Consent INCONCLUSIVE. No basis APPROPRIATE.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9A00"/>
                </a:solidFill>
                <a:latin typeface="Calibri"/>
              </a:rPr>
              <a:t>Match: Partial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netflix.no: paid streaming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98448"/>
            <a:ext cx="2148840" cy="52303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netflix_c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691640"/>
            <a:ext cx="1554480" cy="1554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3429000"/>
            <a:ext cx="20574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300" b="1" i="0">
                <a:solidFill>
                  <a:srgbClr val="325E6A"/>
                </a:solidFill>
                <a:latin typeface="Calibri"/>
              </a:rPr>
              <a:t>News / media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1298448"/>
            <a:ext cx="8942832" cy="523036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44952" y="1444752"/>
            <a:ext cx="8485632" cy="4974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Purpose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24248"/>
                </a:solidFill>
                <a:latin typeface="Calibri"/>
              </a:rPr>
              <a:t>Account and payment data for the paid subscription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Notice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EEA/UK privacy statement: contractual necessity to provide the service.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ICO result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Contract APPROPRIATE. Consent marked likely invalid for this purpose.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24248"/>
                </a:solidFill>
                <a:latin typeface="Calibri"/>
              </a:rPr>
              <a:t>Match: Yes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fotball.no: match history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98448"/>
            <a:ext cx="2148840" cy="52303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fotball_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691640"/>
            <a:ext cx="1554480" cy="1554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3429000"/>
            <a:ext cx="20574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300" b="1" i="0">
                <a:solidFill>
                  <a:srgbClr val="325E6A"/>
                </a:solidFill>
                <a:latin typeface="Calibri"/>
              </a:rPr>
              <a:t>Sport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1298448"/>
            <a:ext cx="8942832" cy="523036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44952" y="1444752"/>
            <a:ext cx="8485632" cy="4974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Purpose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24248"/>
                </a:solidFill>
                <a:latin typeface="Calibri"/>
              </a:rPr>
              <a:t>Player name and club on public match history (13+)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Notice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NFF publishes active players with club opt-out. Not a public authority.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ICO result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Legitimate interests APPROPRIATE. Public task does not fit.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24248"/>
                </a:solidFill>
                <a:latin typeface="Calibri"/>
              </a:rPr>
              <a:t>Match: Yes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5568"/>
                </a:solidFill>
                <a:latin typeface="Calibri"/>
              </a:rPr>
              <a:t>FIKS membership is a different purpose and was not this ICO run.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document.no: Google Signals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98448"/>
            <a:ext cx="2148840" cy="52303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document_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691640"/>
            <a:ext cx="1554480" cy="1554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3429000"/>
            <a:ext cx="20574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300" b="1" i="0">
                <a:solidFill>
                  <a:srgbClr val="325E6A"/>
                </a:solidFill>
                <a:latin typeface="Calibri"/>
              </a:rPr>
              <a:t>News / media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1298448"/>
            <a:ext cx="8942832" cy="52303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88920" y="1298448"/>
            <a:ext cx="109728" cy="5230368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44952" y="1444752"/>
            <a:ext cx="8485632" cy="4974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Purpose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24248"/>
                </a:solidFill>
                <a:latin typeface="Calibri"/>
              </a:rPr>
              <a:t>Google Signals advertising analytics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Notice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Article 6 is not named. Collection runs with Google login and ad personalization.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ICO result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Consent INCONCLUSIVE. No basis APPROPRIATE.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9A00"/>
                </a:solidFill>
                <a:latin typeface="Calibri"/>
              </a:rPr>
              <a:t>Match: Partial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5568"/>
                </a:solidFill>
                <a:latin typeface="Calibri"/>
              </a:rPr>
              <a:t>The choice sits in Google settings. Document Pluss terms also bundle the notice.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babyshop.no: checkout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98448"/>
            <a:ext cx="2148840" cy="5230368"/>
          </a:xfrm>
          <a:prstGeom prst="rect">
            <a:avLst/>
          </a:prstGeom>
          <a:solidFill>
            <a:srgbClr val="E8F4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_babyshop_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691640"/>
            <a:ext cx="1554480" cy="1554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3429000"/>
            <a:ext cx="2057400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1300" b="1" i="0">
                <a:solidFill>
                  <a:srgbClr val="325E6A"/>
                </a:solidFill>
                <a:latin typeface="Calibri"/>
              </a:rPr>
              <a:t>Shopping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88920" y="1298448"/>
            <a:ext cx="8942832" cy="5230368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44952" y="1444752"/>
            <a:ext cx="8485632" cy="4974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Purpose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24248"/>
                </a:solidFill>
                <a:latin typeface="Calibri"/>
              </a:rPr>
              <a:t>Checkout and order fulfilment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Notice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Name, address, contact, order and payment to deliver goods. Sales terms = purchase contract.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325E6A"/>
                </a:solidFill>
                <a:latin typeface="Calibri"/>
              </a:rPr>
              <a:t>ICO result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Contract APPROPRIATE. Article 6(1)(b) is not labeled in the notice.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24248"/>
                </a:solidFill>
                <a:latin typeface="Calibri"/>
              </a:rPr>
              <a:t>Match: Yes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4A5568"/>
                </a:solidFill>
                <a:latin typeface="Calibri"/>
              </a:rPr>
              <a:t>Marketing and profiling stay a separate purpose.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73152"/>
          </a:xfrm>
          <a:prstGeom prst="rect">
            <a:avLst/>
          </a:prstGeom>
          <a:solidFill>
            <a:srgbClr val="FF9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9728"/>
            <a:ext cx="11247120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200" b="1" i="0">
                <a:solidFill>
                  <a:srgbClr val="44A1A4"/>
                </a:solidFill>
                <a:latin typeface="Calibri"/>
              </a:rPr>
              <a:t>Close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"/>
            <a:ext cx="11247120" cy="56692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What the report shows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1247120" cy="4434840"/>
          </a:xfrm>
          <a:prstGeom prst="rect">
            <a:avLst/>
          </a:prstGeom>
          <a:solidFill>
            <a:srgbClr val="44A1A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91640"/>
            <a:ext cx="10789920" cy="397763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1" i="0">
                <a:solidFill>
                  <a:srgbClr val="1A1A1A"/>
                </a:solidFill>
                <a:latin typeface="Calibri"/>
              </a:rPr>
              <a:t>We measured how much 18 sites contact others on load, and we checked whether five of them have a valid GDPR basis for one specific purpose.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1" i="0">
                <a:solidFill>
                  <a:srgbClr val="1A1A1A"/>
                </a:solidFill>
                <a:latin typeface="Calibri"/>
              </a:rPr>
              <a:t>Many sites reach out to many others without setting cookies.</a:t>
            </a:r>
          </a:p>
          <a:p>
            <a:pPr algn="l">
              <a:spcBef>
                <a:spcPts val="0"/>
              </a:spcBef>
              <a:spcAft>
                <a:spcPts val="1600"/>
              </a:spcAft>
            </a:pPr>
            <a:r>
              <a:rPr sz="2200" b="1" i="0">
                <a:solidFill>
                  <a:srgbClr val="1A1A1A"/>
                </a:solidFill>
                <a:latin typeface="Calibri"/>
              </a:rPr>
              <a:t>Four of five ICO purposes match the notice.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Calibri"/>
              </a:rPr>
              <a:t>In two places where the site claims consent, the ICO is not satisfied with how consent is formulated.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656832"/>
            <a:ext cx="91440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ACIT4280 Group Assignment 1A  |  3 Sep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65683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4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¿Questions?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4747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/>
            <a:r>
              <a:rPr sz="2000" b="0" i="0">
                <a:solidFill>
                  <a:srgbClr val="44A1A4"/>
                </a:solidFill>
                <a:latin typeface="Calibri"/>
              </a:rPr>
              <a:t>ACIT4280 Privacy by Design  ·  Group Assignment 1A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