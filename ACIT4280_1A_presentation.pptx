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 1 measures contact. Part 2 tests one purpose at a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Contact and lawful basis are different questions. A high request count is not a finding of unlawful processing.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Webbkoll records what one load contacted. It does not read the notice or decide Article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Webbkoll counts contact on one load. Cookies and requests are separate measures.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fotball.no has 113 requests and zero third-party cookies. document.no has the widest country list (6).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fotball.no 113. lanekassen.no 1. The pie is request share, not cookies.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ranking stays on Table 2. The screenshot is the later visit.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Table 5 row is one purpose from Table 1a.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Partial means the notice aims at consent, but ICO marks consent INCONCLUSIVE and no basis APPROPRIATE.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Partial is not a court finding. It means the consent wording did not pass the ICO checklist.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purposes in the notice, two ICO runs. Figure 7 in the report is the hub that splits those pages.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Same split as elsewhere: one purpose, one basis.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fotball.no also has the highest Webbkoll request count. That does not decide Article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Contract and legitimate interests do not fit this advertising purpose.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Same pattern as Netflix: contract for the core service.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 1 is contact. Part 2 is one purpose and one basis at a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349240"/>
            <a:ext cx="12191695" cy="1508760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1D1"/>
                </a:solidFill>
                <a:latin typeface="Calibri"/>
              </a:rPr>
              <a:t>ACIT4280 Privacy by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15568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1D1"/>
                </a:solidFill>
                <a:latin typeface="Calibri"/>
              </a:rPr>
              <a:t>Group Assignment 1A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97280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Analysis of 3rd-party Data Sharing
and Data Tracking and of GDPR
Compliance of Norwegian Web Sites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310128"/>
            <a:ext cx="109728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500" b="0" i="0">
                <a:solidFill>
                  <a:srgbClr val="FFF1D1"/>
                </a:solidFill>
                <a:latin typeface="Calibri"/>
              </a:rPr>
              <a:t>•  When a front page loads, how many other companies does it contact, and in which countries do those machines appear to sit?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FFF1D1"/>
                </a:solidFill>
                <a:latin typeface="Calibri"/>
              </a:rPr>
              <a:t>•  When a site uses personal data, has it named a GDPR Article 6 basis, and does the ICO tool agree?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6177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Calibri"/>
              </a:rPr>
              <a:t>Humna Akhtar  ·  Mithun Chandra Debnath  ·  Karina Sætersdal Nilssen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5778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B365D"/>
                </a:solidFill>
                <a:latin typeface="Calibri"/>
              </a:rPr>
              <a:t>Oslo Metropolitan University
3 September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The report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Two questions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5394960" cy="4572000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60020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B365D"/>
                </a:solidFill>
                <a:latin typeface="Calibri"/>
              </a:rPr>
              <a:t>Part 1  ·  Webbkoll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49377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•  18 sites in four sectors (Table 1)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•  Cookies, third-party requests, KeyCDN countries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•  Rank Table 2 requests, not cookies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•  Figures 2 to 4: counts, share, sectors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1417320"/>
            <a:ext cx="5394960" cy="457200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160020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1D1"/>
                </a:solidFill>
                <a:latin typeface="Calibri"/>
              </a:rPr>
              <a:t>Part 2  ·  ICO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2103120"/>
            <a:ext cx="49377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FFFFFF"/>
                </a:solidFill>
                <a:latin typeface="Calibri"/>
              </a:rPr>
              <a:t>•  Five sites from Table 1a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FFFFFF"/>
                </a:solidFill>
                <a:latin typeface="Calibri"/>
              </a:rPr>
              <a:t>•  One purpose per ICO run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FFFFFF"/>
                </a:solidFill>
                <a:latin typeface="Calibri"/>
              </a:rPr>
              <a:t>•  Notice versus ICO Word report (26 Aug 2026)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FFFFFF"/>
                </a:solidFill>
                <a:latin typeface="Calibri"/>
              </a:rPr>
              <a:t>•  Yes if notice and ICO agree; Partial if consent is INCONCLUSIVE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2 / 17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Part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How we measured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English Webbkoll. One load per visit. No add-ons. Do Not Track off.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Table 2 (20 Aug 2026) is the ranking. Table 3 is a later check, not averaged.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KeyCDN country is a geolocation guess from the IP, not a legal transfer register.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Requests are not cookies. 17 of 18 sites had zero external cookies. ikea.no had 2.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3 / 17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Part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What we looked at and key findings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5394960" cy="4572000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60020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B365D"/>
                </a:solidFill>
                <a:latin typeface="Calibri"/>
              </a:rPr>
              <a:t>What we looked 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49377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•  Cookies (small files on the device)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•  Third-party requests (calls to other companies, such as ads and fonts)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•  Countries (KeyCDN geolocation guess from the IP, not a legal transfer register)</a:t>
            </a:r>
          </a:p>
          <a:p>
            <a:pPr algn="l">
              <a:spcBef>
                <a:spcPts val="800"/>
              </a:spcBef>
              <a:spcAft>
                <a:spcPts val="600"/>
              </a:spcAft>
            </a:pPr>
            <a:r>
              <a:rPr sz="1800" b="1" i="0">
                <a:solidFill>
                  <a:srgbClr val="1B365D"/>
                </a:solidFill>
                <a:latin typeface="Calibri"/>
              </a:rPr>
              <a:t>Many requests does not mean many cookies.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1417320"/>
            <a:ext cx="5394960" cy="457200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160020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1D1"/>
                </a:solidFill>
                <a:latin typeface="Calibri"/>
              </a:rPr>
              <a:t>Key findings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2103120"/>
            <a:ext cx="49377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fotball.no: 113 requests, zero third-party cookies.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17 of 18 sites: zero third-party cookies. ikea.no had 2.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lanekassen.no (1) and altinn.no (5): quietest e-government pages.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document.no: widest country list (6 excluding Norway).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News/media contacted the most. Government the fewest.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babyshop.no: 101 on Table 3; ranking stays on Table 2 (45).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4 / 17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Part 1  ·  Table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Highest and lowest third-party requests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801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B365D"/>
                </a:solidFill>
                <a:latin typeface="Calibri"/>
              </a:rPr>
              <a:t>Highest five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2801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B365D"/>
                </a:solidFill>
                <a:latin typeface="Calibri"/>
              </a:rPr>
              <a:t>Lowest five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627632"/>
            <a:ext cx="5394960" cy="749808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682496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365D"/>
                </a:solidFill>
                <a:latin typeface="Calibri"/>
              </a:rPr>
              <a:t>1  fotball.no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975104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Sport  ·  113 requests  ·  5 countries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1627632"/>
            <a:ext cx="5303520" cy="749808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0" y="1682496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365D"/>
                </a:solidFill>
                <a:latin typeface="Calibri"/>
              </a:rPr>
              <a:t>1  lanekassen.no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1975104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Government  ·  1 request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450592"/>
            <a:ext cx="5394960" cy="749808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2505456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365D"/>
                </a:solidFill>
                <a:latin typeface="Calibri"/>
              </a:rPr>
              <a:t>2  worldofwarcraft.com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2798064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News/media  ·  90  ·  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0" y="2450592"/>
            <a:ext cx="5303520" cy="749808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0" y="2505456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365D"/>
                </a:solidFill>
                <a:latin typeface="Calibri"/>
              </a:rPr>
              <a:t>2  altinn.no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2798064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Government  ·  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3273552"/>
            <a:ext cx="5394960" cy="749808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328416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365D"/>
                </a:solidFill>
                <a:latin typeface="Calibri"/>
              </a:rPr>
              <a:t>3  document.no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3621024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News/media  ·  51  ·  6 (widest list)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0" y="3273552"/>
            <a:ext cx="5303520" cy="749808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0" y="3328416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365D"/>
                </a:solidFill>
                <a:latin typeface="Calibri"/>
              </a:rPr>
              <a:t>3  nrk.no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0" y="3621024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News/media  ·  7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4096512"/>
            <a:ext cx="5394960" cy="749808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4151376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365D"/>
                </a:solidFill>
                <a:latin typeface="Calibri"/>
              </a:rPr>
              <a:t>4  aftenposten.no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4443984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News/media  ·  48  ·  5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0" y="4096512"/>
            <a:ext cx="5303520" cy="749808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0" y="4151376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365D"/>
                </a:solidFill>
                <a:latin typeface="Calibri"/>
              </a:rPr>
              <a:t>4  spotify.no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4443984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News/media  ·  10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4919472"/>
            <a:ext cx="5394960" cy="749808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4974336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365D"/>
                </a:solidFill>
                <a:latin typeface="Calibri"/>
              </a:rPr>
              <a:t>5  klassekampen.no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" y="5266944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News/media  ·  46  ·  2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00800" y="4919472"/>
            <a:ext cx="5303520" cy="749808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0" y="4974336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365D"/>
                </a:solidFill>
                <a:latin typeface="Calibri"/>
              </a:rPr>
              <a:t>5  skiforeningen.no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83680" y="5266944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Sport  ·  14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6263640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4A5568"/>
                </a:solidFill>
                <a:latin typeface="Calibri"/>
              </a:rPr>
              <a:t>Ranked on Table 2 requests. lanekassen.no and altinn.no have the fewest government requests. babyshop.no is 101 on Table 3; rankings stay on Table 2.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5 / 17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Part 1  ·  Figures 2 to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Third-party requests by site and sector</a:t>
            </a:r>
          </a:p>
        </p:txBody>
      </p:sp>
      <p:pic>
        <p:nvPicPr>
          <p:cNvPr id="7" name="Picture 6" descr="fig3_requests_all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07008"/>
            <a:ext cx="5943600" cy="4709160"/>
          </a:xfrm>
          <a:prstGeom prst="rect">
            <a:avLst/>
          </a:prstGeom>
        </p:spPr>
      </p:pic>
      <p:pic>
        <p:nvPicPr>
          <p:cNvPr id="8" name="Picture 7" descr="fig5_share_requests_pi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207008"/>
            <a:ext cx="5486400" cy="2286000"/>
          </a:xfrm>
          <a:prstGeom prst="rect">
            <a:avLst/>
          </a:prstGeom>
        </p:spPr>
      </p:pic>
      <p:pic>
        <p:nvPicPr>
          <p:cNvPr id="9" name="Picture 8" descr="fig6_requests_per_sect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5080" y="3566160"/>
            <a:ext cx="5486400" cy="2331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65760" y="6263640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4A5568"/>
                </a:solidFill>
                <a:latin typeface="Calibri"/>
              </a:rPr>
              <a:t>Table 2. News/media is the highest sector. Government is the lowest. Sport is high because of fotball.no.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6 / 17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Part 1  ·  one example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klassekampen.no: 46 in Table 2, 56 on the screenshot</a:t>
            </a:r>
          </a:p>
        </p:txBody>
      </p:sp>
      <p:pic>
        <p:nvPicPr>
          <p:cNvPr id="7" name="Picture 6" descr="fig2_webbkoll_results_klassekamp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207008"/>
            <a:ext cx="11430000" cy="2148840"/>
          </a:xfrm>
          <a:prstGeom prst="rect">
            <a:avLst/>
          </a:prstGeom>
        </p:spPr>
      </p:pic>
      <p:pic>
        <p:nvPicPr>
          <p:cNvPr id="8" name="Picture 7" descr="fig4_keycdn_lookup_klassekamp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4560" y="3456432"/>
            <a:ext cx="7772400" cy="26060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65760" y="612648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4A5568"/>
                </a:solidFill>
                <a:latin typeface="Calibri"/>
              </a:rPr>
              <a:t>Table 2: 46 requests, 0 third-party cookies. Screenshot = Table 3 (56 requests to 13 hosts). Server: United States, Google.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7 / 17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ICO: one purpose at a time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Official ICO Word reports dated 26 August 2026. The labels are guidance, not a court finding.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One purpose per run. Compare what the notice claims with what ICO marks.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Yes: notice and ICO line up for that purpose. Partial: the notice aims at consent; ICO marks INCONCLUSIVE.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Tax, cookies, checkout and marketing are different purposes.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8 / 17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Part 2  ·  Table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ICO result versus the notice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280160"/>
            <a:ext cx="2560320" cy="621792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8912" y="1444752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Service</a:t>
            </a:r>
          </a:p>
        </p:txBody>
      </p:sp>
      <p:sp>
        <p:nvSpPr>
          <p:cNvPr id="9" name="Rectangle 8"/>
          <p:cNvSpPr/>
          <p:nvPr/>
        </p:nvSpPr>
        <p:spPr>
          <a:xfrm>
            <a:off x="2926080" y="1280160"/>
            <a:ext cx="3108960" cy="621792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99232" y="1444752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Purpose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35040" y="1280160"/>
            <a:ext cx="4389120" cy="621792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08192" y="1444752"/>
            <a:ext cx="4297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ICO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424160" y="1280160"/>
            <a:ext cx="1371600" cy="621792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97312" y="1444752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Match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1901952"/>
            <a:ext cx="256032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8912" y="2066544"/>
            <a:ext cx="24505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Calibri"/>
              </a:rPr>
              <a:t>skatteetaten.no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926080" y="1901952"/>
            <a:ext cx="310896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999232" y="2066544"/>
            <a:ext cx="29992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Tax / folkeregister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35040" y="1901952"/>
            <a:ext cx="438912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08192" y="2066544"/>
            <a:ext cx="42793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Legal obligation + public task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424160" y="1901952"/>
            <a:ext cx="137160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497312" y="2066544"/>
            <a:ext cx="126187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B365D"/>
                </a:solidFill>
                <a:latin typeface="Calibri"/>
              </a:rPr>
              <a:t>Yes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2523744"/>
            <a:ext cx="2560320" cy="62179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8912" y="2688336"/>
            <a:ext cx="24505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Calibri"/>
              </a:rPr>
              <a:t>skatteetaten.no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926080" y="2523744"/>
            <a:ext cx="3108960" cy="62179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999232" y="2688336"/>
            <a:ext cx="29992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Optional cookies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035040" y="2523744"/>
            <a:ext cx="4389120" cy="62179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08192" y="2688336"/>
            <a:ext cx="42793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Consent INCONCLUSIVE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424160" y="2523744"/>
            <a:ext cx="1371600" cy="62179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497312" y="2688336"/>
            <a:ext cx="126187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9A5B00"/>
                </a:solidFill>
                <a:latin typeface="Calibri"/>
              </a:rPr>
              <a:t>Partial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" y="3145536"/>
            <a:ext cx="256032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38912" y="3310128"/>
            <a:ext cx="24505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Calibri"/>
              </a:rPr>
              <a:t>netflix.no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926080" y="3145536"/>
            <a:ext cx="310896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999232" y="3310128"/>
            <a:ext cx="29992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Paid streaming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035040" y="3145536"/>
            <a:ext cx="438912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108192" y="3310128"/>
            <a:ext cx="42793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Contract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0424160" y="3145536"/>
            <a:ext cx="137160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497312" y="3310128"/>
            <a:ext cx="126187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B365D"/>
                </a:solidFill>
                <a:latin typeface="Calibri"/>
              </a:rPr>
              <a:t>Yes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65760" y="3767328"/>
            <a:ext cx="2560320" cy="621792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38912" y="3931920"/>
            <a:ext cx="24505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Calibri"/>
              </a:rPr>
              <a:t>fotball.no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926080" y="3767328"/>
            <a:ext cx="3108960" cy="621792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999232" y="3931920"/>
            <a:ext cx="29992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Name + club, 13+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035040" y="3767328"/>
            <a:ext cx="4389120" cy="621792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108192" y="3931920"/>
            <a:ext cx="42793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Legitimate interests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0424160" y="3767328"/>
            <a:ext cx="1371600" cy="621792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497312" y="3931920"/>
            <a:ext cx="126187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B365D"/>
                </a:solidFill>
                <a:latin typeface="Calibri"/>
              </a:rPr>
              <a:t>Yes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4389120"/>
            <a:ext cx="2560320" cy="62179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38912" y="4553712"/>
            <a:ext cx="24505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Calibri"/>
              </a:rPr>
              <a:t>document.no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926080" y="4389120"/>
            <a:ext cx="3108960" cy="62179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999232" y="4553712"/>
            <a:ext cx="29992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Google Signals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035040" y="4389120"/>
            <a:ext cx="4389120" cy="62179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108192" y="4553712"/>
            <a:ext cx="42793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Consent INCONCLUSIVE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0424160" y="4389120"/>
            <a:ext cx="1371600" cy="62179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0497312" y="4553712"/>
            <a:ext cx="126187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9A5B00"/>
                </a:solidFill>
                <a:latin typeface="Calibri"/>
              </a:rPr>
              <a:t>Partial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65760" y="5010912"/>
            <a:ext cx="2560320" cy="621792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38912" y="5175504"/>
            <a:ext cx="24505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Calibri"/>
              </a:rPr>
              <a:t>babyshop.no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926080" y="5010912"/>
            <a:ext cx="3108960" cy="621792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999232" y="5175504"/>
            <a:ext cx="29992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Checkout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035040" y="5010912"/>
            <a:ext cx="4389120" cy="621792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108192" y="5175504"/>
            <a:ext cx="42793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Contract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0424160" y="5010912"/>
            <a:ext cx="1371600" cy="621792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497312" y="5175504"/>
            <a:ext cx="126187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B365D"/>
                </a:solidFill>
                <a:latin typeface="Calibri"/>
              </a:rPr>
              <a:t>Yes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5760" y="6144768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4A5568"/>
                </a:solidFill>
                <a:latin typeface="Calibri"/>
              </a:rPr>
              <a:t>ICO labels are guidance. Partial: the notice aims at consent; ICO does not mark consent APPROPRIATE.</a:t>
            </a:r>
          </a:p>
        </p:txBody>
      </p:sp>
      <p:sp>
        <p:nvSpPr>
          <p:cNvPr id="64" name="Rectangle 6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9 / 17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Part 2  ·  Table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Four match, two consent tests Partial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11247120" cy="4434840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691640"/>
            <a:ext cx="10789920" cy="3977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2000" b="1" i="0">
                <a:solidFill>
                  <a:srgbClr val="1B365D"/>
                </a:solidFill>
                <a:latin typeface="Calibri"/>
              </a:rPr>
              <a:t>Four core purposes match the notice: tax, paid streaming, match history, checkout.</a:t>
            </a:r>
          </a:p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2000" b="1" i="0">
                <a:solidFill>
                  <a:srgbClr val="1B365D"/>
                </a:solidFill>
                <a:latin typeface="Calibri"/>
              </a:rPr>
              <a:t>Two consent tests are Partial: Skatteetaten optional cookies and document.no Google Signals.</a:t>
            </a:r>
          </a:p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800" b="0" i="0">
                <a:solidFill>
                  <a:srgbClr val="1B365D"/>
                </a:solidFill>
                <a:latin typeface="Calibri"/>
              </a:rPr>
              <a:t>In both cases the notice claims consent, but the ICO marks consent INCONCLUSIVE.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B365D"/>
                </a:solidFill>
                <a:latin typeface="Calibri"/>
              </a:rPr>
              <a:t>Skatteetaten does not spell out clearly enough who processes the optional cookies and how to refuse them. document.no points users to Google ad settings; the ICO says that is not a clear, separate consent request, and Pluss terms bundle the notice.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10 / 17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skatteetaten.no: two purposes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Tax and registry data: the law requires it. Opt-out is generally not possible.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ICO: legal obligation and public task APPROPRIATE. Consent NOT APPROPRIATE. Match: Yes.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Optional statistics cookies: the notice claims consent.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ICO: consent INCONCLUSIVE; no basis APPROPRIATE. Match: Partial.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11 / 17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netflix.no: paid streaming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Purpose: account and payment data needed to provide the paid service.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Notice (EEA/UK): contractual necessity.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ICO: contract APPROPRIATE. Consent marked likely invalid for this purpose.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Ads and marketing in the same notice were left out.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12 / 17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fotball.no: match history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Purpose: name and club of active players aged 13+, with club opt-out.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ICO: legitimate interests APPROPRIATE.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NFF is not a public authority, so public task does not fit.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FIKS membership is a different purpose and was not this run.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13 / 17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document.no: Google Signals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71600"/>
            <a:ext cx="11247120" cy="1051560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5544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B365D"/>
                </a:solidFill>
                <a:latin typeface="Calibri"/>
              </a:rPr>
              <a:t>ICO: no basis APPROPRIATE. Consent INCONCLUSIVE. Match: Partial.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651760"/>
            <a:ext cx="111556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•  Purpose: advertising analytics from site activity.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•  The notice does not name Article 6. It looks like consent.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•  ICO: the request is not clear, prominent and separate from terms.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•  The choice sits in Google settings. Pluss terms also bundle the notice.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14 / 17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babyshop.no: checkout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Purpose: name, address, contact, order and payment to deliver goods.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The sales terms are a purchase contract.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ICO: contract APPROPRIATE. Match: Yes for checkout.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The notice does not label Article 6(1)(b). Marketing is a separate purpose.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15 / 17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Close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What the report shows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11247120" cy="4434840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691640"/>
            <a:ext cx="10789920" cy="3977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600"/>
              </a:spcAft>
            </a:pPr>
            <a:r>
              <a:rPr sz="2200" b="0" i="0">
                <a:solidFill>
                  <a:srgbClr val="1B365D"/>
                </a:solidFill>
                <a:latin typeface="Calibri"/>
              </a:rPr>
              <a:t>We measured how much 18 sites contact others on load, and we checked whether five of them have a valid GDPR basis for one specific purpose.</a:t>
            </a:r>
          </a:p>
          <a:p>
            <a:pPr algn="l">
              <a:spcBef>
                <a:spcPts val="0"/>
              </a:spcBef>
              <a:spcAft>
                <a:spcPts val="1600"/>
              </a:spcAft>
            </a:pPr>
            <a:r>
              <a:rPr sz="2200" b="0" i="0">
                <a:solidFill>
                  <a:srgbClr val="1B365D"/>
                </a:solidFill>
                <a:latin typeface="Calibri"/>
              </a:rPr>
              <a:t>Many sites reach out to many others without setting cookies.</a:t>
            </a:r>
          </a:p>
          <a:p>
            <a:pPr algn="l">
              <a:spcBef>
                <a:spcPts val="0"/>
              </a:spcBef>
              <a:spcAft>
                <a:spcPts val="1600"/>
              </a:spcAft>
            </a:pPr>
            <a:r>
              <a:rPr sz="2200" b="0" i="0">
                <a:solidFill>
                  <a:srgbClr val="1B365D"/>
                </a:solidFill>
                <a:latin typeface="Calibri"/>
              </a:rPr>
              <a:t>Four of five ICO purposes match the notice.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0" i="0">
                <a:solidFill>
                  <a:srgbClr val="1B365D"/>
                </a:solidFill>
                <a:latin typeface="Calibri"/>
              </a:rPr>
              <a:t>In two places where the site claims consent, the ICO is not satisfied with how consent is formulated.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16 / 17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19456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Calibri"/>
              </a:rPr>
              <a:t>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47472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FFF1D1"/>
                </a:solidFill>
                <a:latin typeface="Calibri"/>
              </a:rPr>
              <a:t>ACIT4280 Privacy by Design  ·  Group Assignment 1A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